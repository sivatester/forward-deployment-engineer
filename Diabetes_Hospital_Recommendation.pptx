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Excel_Worksheet.xlsx"/><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0368"/>
            <a:ext cx="12191695" cy="7273713"/>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368"/>
            <a:ext cx="11155680" cy="458587"/>
          </a:xfrm>
          <a:prstGeom prst="rect">
            <a:avLst/>
          </a:prstGeom>
          <a:noFill/>
        </p:spPr>
        <p:txBody>
          <a:bodyPr wrap="square" lIns="36576" tIns="36576" rIns="36576" bIns="36576" anchor="t">
            <a:spAutoFit/>
          </a:bodyPr>
          <a:lstStyle/>
          <a:p>
            <a:pPr>
              <a:spcAft>
                <a:spcPts val="0"/>
              </a:spcAft>
            </a:pPr>
            <a:r>
              <a:rPr sz="2500" b="1" dirty="0">
                <a:solidFill>
                  <a:srgbClr val="13233A"/>
                </a:solidFill>
                <a:latin typeface="Aptos"/>
              </a:rPr>
              <a:t>Frame the problem &amp; set the baseline</a:t>
            </a:r>
            <a:r>
              <a:rPr lang="en-US" sz="2500" b="1" dirty="0">
                <a:solidFill>
                  <a:srgbClr val="13233A"/>
                </a:solidFill>
                <a:latin typeface="Aptos"/>
              </a:rPr>
              <a:t> :  Step 1 &amp; Step 2</a:t>
            </a:r>
            <a:endParaRPr sz="2500" b="1" dirty="0">
              <a:solidFill>
                <a:srgbClr val="13233A"/>
              </a:solidFill>
              <a:latin typeface="Aptos"/>
            </a:endParaRPr>
          </a:p>
        </p:txBody>
      </p:sp>
      <p:sp>
        <p:nvSpPr>
          <p:cNvPr id="5" name="TextBox 4"/>
          <p:cNvSpPr txBox="1"/>
          <p:nvPr/>
        </p:nvSpPr>
        <p:spPr>
          <a:xfrm>
            <a:off x="498348" y="504860"/>
            <a:ext cx="10972800" cy="329184"/>
          </a:xfrm>
          <a:prstGeom prst="rect">
            <a:avLst/>
          </a:prstGeom>
          <a:noFill/>
        </p:spPr>
        <p:txBody>
          <a:bodyPr wrap="square" lIns="36576" tIns="36576" rIns="36576" bIns="36576" anchor="t">
            <a:spAutoFit/>
          </a:bodyPr>
          <a:lstStyle/>
          <a:p>
            <a:pPr>
              <a:spcAft>
                <a:spcPts val="0"/>
              </a:spcAft>
            </a:pPr>
            <a:r>
              <a:rPr sz="1100" b="0" dirty="0">
                <a:solidFill>
                  <a:srgbClr val="647284"/>
                </a:solidFill>
                <a:latin typeface="Aptos"/>
              </a:rPr>
              <a:t>FDE lens: define the decision first, then quantify the current state before proposing a solution.</a:t>
            </a:r>
          </a:p>
        </p:txBody>
      </p:sp>
      <p:sp>
        <p:nvSpPr>
          <p:cNvPr id="6" name="Rectangle 5"/>
          <p:cNvSpPr/>
          <p:nvPr/>
        </p:nvSpPr>
        <p:spPr>
          <a:xfrm>
            <a:off x="502920" y="880488"/>
            <a:ext cx="11155680" cy="16459"/>
          </a:xfrm>
          <a:prstGeom prst="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ounded Rectangle 6"/>
          <p:cNvSpPr/>
          <p:nvPr/>
        </p:nvSpPr>
        <p:spPr>
          <a:xfrm>
            <a:off x="525780" y="1242293"/>
            <a:ext cx="2606040" cy="1298448"/>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25780" y="1242293"/>
            <a:ext cx="73152" cy="1298448"/>
          </a:xfrm>
          <a:prstGeom prst="rect">
            <a:avLst/>
          </a:prstGeom>
          <a:solidFill>
            <a:srgbClr val="2A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6948" y="1388597"/>
            <a:ext cx="2286000" cy="411480"/>
          </a:xfrm>
          <a:prstGeom prst="rect">
            <a:avLst/>
          </a:prstGeom>
          <a:noFill/>
        </p:spPr>
        <p:txBody>
          <a:bodyPr wrap="square" lIns="36576" tIns="36576" rIns="36576" bIns="36576" anchor="t">
            <a:spAutoFit/>
          </a:bodyPr>
          <a:lstStyle/>
          <a:p>
            <a:pPr>
              <a:spcAft>
                <a:spcPts val="0"/>
              </a:spcAft>
            </a:pPr>
            <a:r>
              <a:rPr sz="2300" b="1">
                <a:solidFill>
                  <a:srgbClr val="2A67B2"/>
                </a:solidFill>
                <a:latin typeface="Aptos"/>
              </a:rPr>
              <a:t>101,766</a:t>
            </a:r>
          </a:p>
        </p:txBody>
      </p:sp>
      <p:sp>
        <p:nvSpPr>
          <p:cNvPr id="10" name="TextBox 9"/>
          <p:cNvSpPr txBox="1"/>
          <p:nvPr/>
        </p:nvSpPr>
        <p:spPr>
          <a:xfrm>
            <a:off x="726948" y="1827509"/>
            <a:ext cx="2286000" cy="243143"/>
          </a:xfrm>
          <a:prstGeom prst="rect">
            <a:avLst/>
          </a:prstGeom>
          <a:noFill/>
        </p:spPr>
        <p:txBody>
          <a:bodyPr wrap="square" lIns="36576" tIns="36576" rIns="36576" bIns="36576" anchor="t">
            <a:spAutoFit/>
          </a:bodyPr>
          <a:lstStyle/>
          <a:p>
            <a:pPr>
              <a:spcAft>
                <a:spcPts val="0"/>
              </a:spcAft>
            </a:pPr>
            <a:r>
              <a:rPr lang="en-US" sz="1100" b="1" dirty="0">
                <a:solidFill>
                  <a:srgbClr val="283444"/>
                </a:solidFill>
                <a:latin typeface="Aptos"/>
              </a:rPr>
              <a:t>H</a:t>
            </a:r>
            <a:r>
              <a:rPr sz="1100" b="1" dirty="0">
                <a:solidFill>
                  <a:srgbClr val="283444"/>
                </a:solidFill>
                <a:latin typeface="Aptos"/>
              </a:rPr>
              <a:t>ospital encounters</a:t>
            </a:r>
          </a:p>
        </p:txBody>
      </p:sp>
      <p:sp>
        <p:nvSpPr>
          <p:cNvPr id="11" name="TextBox 10"/>
          <p:cNvSpPr txBox="1"/>
          <p:nvPr/>
        </p:nvSpPr>
        <p:spPr>
          <a:xfrm>
            <a:off x="726948" y="2229845"/>
            <a:ext cx="2286000" cy="210312"/>
          </a:xfrm>
          <a:prstGeom prst="rect">
            <a:avLst/>
          </a:prstGeom>
          <a:noFill/>
        </p:spPr>
        <p:txBody>
          <a:bodyPr wrap="square" lIns="36576" tIns="36576" rIns="36576" bIns="36576" anchor="t">
            <a:spAutoFit/>
          </a:bodyPr>
          <a:lstStyle/>
          <a:p>
            <a:pPr>
              <a:spcAft>
                <a:spcPts val="0"/>
              </a:spcAft>
            </a:pPr>
            <a:r>
              <a:rPr sz="850" b="0">
                <a:solidFill>
                  <a:srgbClr val="647284"/>
                </a:solidFill>
                <a:latin typeface="Aptos"/>
              </a:rPr>
              <a:t>Rows in the file</a:t>
            </a:r>
          </a:p>
        </p:txBody>
      </p:sp>
      <p:sp>
        <p:nvSpPr>
          <p:cNvPr id="12" name="Rounded Rectangle 11"/>
          <p:cNvSpPr/>
          <p:nvPr/>
        </p:nvSpPr>
        <p:spPr>
          <a:xfrm>
            <a:off x="3268980" y="1242293"/>
            <a:ext cx="2606040" cy="1298448"/>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68980" y="1242293"/>
            <a:ext cx="73152" cy="1298448"/>
          </a:xfrm>
          <a:prstGeom prst="rect">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0148" y="1388597"/>
            <a:ext cx="2286000" cy="411480"/>
          </a:xfrm>
          <a:prstGeom prst="rect">
            <a:avLst/>
          </a:prstGeom>
          <a:noFill/>
        </p:spPr>
        <p:txBody>
          <a:bodyPr wrap="square" lIns="36576" tIns="36576" rIns="36576" bIns="36576" anchor="t">
            <a:spAutoFit/>
          </a:bodyPr>
          <a:lstStyle/>
          <a:p>
            <a:pPr>
              <a:spcAft>
                <a:spcPts val="0"/>
              </a:spcAft>
            </a:pPr>
            <a:r>
              <a:rPr sz="2300" b="1">
                <a:solidFill>
                  <a:srgbClr val="1B8F85"/>
                </a:solidFill>
                <a:latin typeface="Aptos"/>
              </a:rPr>
              <a:t>71,518</a:t>
            </a:r>
          </a:p>
        </p:txBody>
      </p:sp>
      <p:sp>
        <p:nvSpPr>
          <p:cNvPr id="15" name="TextBox 14"/>
          <p:cNvSpPr txBox="1"/>
          <p:nvPr/>
        </p:nvSpPr>
        <p:spPr>
          <a:xfrm>
            <a:off x="3470148" y="1827509"/>
            <a:ext cx="2286000" cy="243143"/>
          </a:xfrm>
          <a:prstGeom prst="rect">
            <a:avLst/>
          </a:prstGeom>
          <a:noFill/>
        </p:spPr>
        <p:txBody>
          <a:bodyPr wrap="square" lIns="36576" tIns="36576" rIns="36576" bIns="36576" anchor="t">
            <a:spAutoFit/>
          </a:bodyPr>
          <a:lstStyle/>
          <a:p>
            <a:pPr>
              <a:spcAft>
                <a:spcPts val="0"/>
              </a:spcAft>
            </a:pPr>
            <a:r>
              <a:rPr lang="en-US" sz="1100" b="1" dirty="0">
                <a:solidFill>
                  <a:srgbClr val="283444"/>
                </a:solidFill>
                <a:latin typeface="Aptos"/>
              </a:rPr>
              <a:t>U</a:t>
            </a:r>
            <a:r>
              <a:rPr sz="1100" b="1" dirty="0">
                <a:solidFill>
                  <a:srgbClr val="283444"/>
                </a:solidFill>
                <a:latin typeface="Aptos"/>
              </a:rPr>
              <a:t>nique patients</a:t>
            </a:r>
          </a:p>
        </p:txBody>
      </p:sp>
      <p:sp>
        <p:nvSpPr>
          <p:cNvPr id="16" name="TextBox 15"/>
          <p:cNvSpPr txBox="1"/>
          <p:nvPr/>
        </p:nvSpPr>
        <p:spPr>
          <a:xfrm>
            <a:off x="3470148" y="2229845"/>
            <a:ext cx="2286000" cy="210312"/>
          </a:xfrm>
          <a:prstGeom prst="rect">
            <a:avLst/>
          </a:prstGeom>
          <a:noFill/>
        </p:spPr>
        <p:txBody>
          <a:bodyPr wrap="square" lIns="36576" tIns="36576" rIns="36576" bIns="36576" anchor="t">
            <a:spAutoFit/>
          </a:bodyPr>
          <a:lstStyle/>
          <a:p>
            <a:pPr>
              <a:spcAft>
                <a:spcPts val="0"/>
              </a:spcAft>
            </a:pPr>
            <a:r>
              <a:rPr sz="850" b="0">
                <a:solidFill>
                  <a:srgbClr val="647284"/>
                </a:solidFill>
                <a:latin typeface="Aptos"/>
              </a:rPr>
              <a:t>Repeated encounters exist</a:t>
            </a:r>
          </a:p>
        </p:txBody>
      </p:sp>
      <p:sp>
        <p:nvSpPr>
          <p:cNvPr id="17" name="Rounded Rectangle 16"/>
          <p:cNvSpPr/>
          <p:nvPr/>
        </p:nvSpPr>
        <p:spPr>
          <a:xfrm>
            <a:off x="6012180" y="1242293"/>
            <a:ext cx="2606040" cy="1298448"/>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12180" y="1242293"/>
            <a:ext cx="73152" cy="1298448"/>
          </a:xfrm>
          <a:prstGeom prst="rect">
            <a:avLst/>
          </a:prstGeom>
          <a:solidFill>
            <a:srgbClr val="C2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3348" y="1388597"/>
            <a:ext cx="2286000" cy="411480"/>
          </a:xfrm>
          <a:prstGeom prst="rect">
            <a:avLst/>
          </a:prstGeom>
          <a:noFill/>
        </p:spPr>
        <p:txBody>
          <a:bodyPr wrap="square" lIns="36576" tIns="36576" rIns="36576" bIns="36576" anchor="t">
            <a:spAutoFit/>
          </a:bodyPr>
          <a:lstStyle/>
          <a:p>
            <a:pPr>
              <a:spcAft>
                <a:spcPts val="0"/>
              </a:spcAft>
            </a:pPr>
            <a:r>
              <a:rPr sz="2300" b="1" dirty="0">
                <a:solidFill>
                  <a:srgbClr val="C24B48"/>
                </a:solidFill>
                <a:latin typeface="Aptos"/>
              </a:rPr>
              <a:t>11.16%</a:t>
            </a:r>
          </a:p>
        </p:txBody>
      </p:sp>
      <p:sp>
        <p:nvSpPr>
          <p:cNvPr id="20" name="TextBox 19"/>
          <p:cNvSpPr txBox="1"/>
          <p:nvPr/>
        </p:nvSpPr>
        <p:spPr>
          <a:xfrm>
            <a:off x="6213348" y="1827509"/>
            <a:ext cx="228600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readmitted within 30 days</a:t>
            </a:r>
          </a:p>
        </p:txBody>
      </p:sp>
      <p:sp>
        <p:nvSpPr>
          <p:cNvPr id="21" name="TextBox 20"/>
          <p:cNvSpPr txBox="1"/>
          <p:nvPr/>
        </p:nvSpPr>
        <p:spPr>
          <a:xfrm>
            <a:off x="6213348" y="2229845"/>
            <a:ext cx="2286000" cy="210312"/>
          </a:xfrm>
          <a:prstGeom prst="rect">
            <a:avLst/>
          </a:prstGeom>
          <a:noFill/>
        </p:spPr>
        <p:txBody>
          <a:bodyPr wrap="square" lIns="36576" tIns="36576" rIns="36576" bIns="36576" anchor="t">
            <a:spAutoFit/>
          </a:bodyPr>
          <a:lstStyle/>
          <a:p>
            <a:pPr>
              <a:spcAft>
                <a:spcPts val="0"/>
              </a:spcAft>
            </a:pPr>
            <a:r>
              <a:rPr sz="850" b="0" dirty="0">
                <a:solidFill>
                  <a:srgbClr val="647284"/>
                </a:solidFill>
                <a:latin typeface="Aptos"/>
              </a:rPr>
              <a:t>11,357 / 101,766</a:t>
            </a:r>
          </a:p>
        </p:txBody>
      </p:sp>
      <p:sp>
        <p:nvSpPr>
          <p:cNvPr id="22" name="Rounded Rectangle 21"/>
          <p:cNvSpPr/>
          <p:nvPr/>
        </p:nvSpPr>
        <p:spPr>
          <a:xfrm>
            <a:off x="8755380" y="1242293"/>
            <a:ext cx="2606040" cy="1298448"/>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55380" y="1242293"/>
            <a:ext cx="73152" cy="1298448"/>
          </a:xfrm>
          <a:prstGeom prst="rect">
            <a:avLst/>
          </a:prstGeom>
          <a:solidFill>
            <a:srgbClr val="E5A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56548" y="1388597"/>
            <a:ext cx="2286000" cy="411480"/>
          </a:xfrm>
          <a:prstGeom prst="rect">
            <a:avLst/>
          </a:prstGeom>
          <a:noFill/>
        </p:spPr>
        <p:txBody>
          <a:bodyPr wrap="square" lIns="36576" tIns="36576" rIns="36576" bIns="36576" anchor="t">
            <a:spAutoFit/>
          </a:bodyPr>
          <a:lstStyle/>
          <a:p>
            <a:pPr>
              <a:spcAft>
                <a:spcPts val="0"/>
              </a:spcAft>
            </a:pPr>
            <a:r>
              <a:rPr sz="2300" b="1">
                <a:solidFill>
                  <a:srgbClr val="E5A637"/>
                </a:solidFill>
                <a:latin typeface="Aptos"/>
              </a:rPr>
              <a:t>46.09%</a:t>
            </a:r>
          </a:p>
        </p:txBody>
      </p:sp>
      <p:sp>
        <p:nvSpPr>
          <p:cNvPr id="25" name="TextBox 24"/>
          <p:cNvSpPr txBox="1"/>
          <p:nvPr/>
        </p:nvSpPr>
        <p:spPr>
          <a:xfrm>
            <a:off x="8956548" y="1827509"/>
            <a:ext cx="228600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any recorded readmission</a:t>
            </a:r>
          </a:p>
        </p:txBody>
      </p:sp>
      <p:sp>
        <p:nvSpPr>
          <p:cNvPr id="26" name="TextBox 25"/>
          <p:cNvSpPr txBox="1"/>
          <p:nvPr/>
        </p:nvSpPr>
        <p:spPr>
          <a:xfrm>
            <a:off x="8956548" y="2229845"/>
            <a:ext cx="2286000" cy="204671"/>
          </a:xfrm>
          <a:prstGeom prst="rect">
            <a:avLst/>
          </a:prstGeom>
          <a:noFill/>
        </p:spPr>
        <p:txBody>
          <a:bodyPr wrap="square" lIns="36576" tIns="36576" rIns="36576" bIns="36576" anchor="t">
            <a:spAutoFit/>
          </a:bodyPr>
          <a:lstStyle/>
          <a:p>
            <a:pPr lvl="0"/>
            <a:r>
              <a:rPr lang="en-IN" sz="850" dirty="0">
                <a:solidFill>
                  <a:srgbClr val="647284"/>
                </a:solidFill>
                <a:latin typeface="Aptos"/>
              </a:rPr>
              <a:t>Within 30 days or after 30 days)</a:t>
            </a:r>
          </a:p>
        </p:txBody>
      </p:sp>
      <p:sp>
        <p:nvSpPr>
          <p:cNvPr id="27" name="Rounded Rectangle 26"/>
          <p:cNvSpPr/>
          <p:nvPr/>
        </p:nvSpPr>
        <p:spPr>
          <a:xfrm>
            <a:off x="6410708" y="3405184"/>
            <a:ext cx="5349240" cy="2331720"/>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lang="en-US" sz="1100" b="1" dirty="0">
                <a:solidFill>
                  <a:srgbClr val="1B8F85"/>
                </a:solidFill>
                <a:latin typeface="Aptos"/>
              </a:rPr>
              <a:t>Business Problem Statement</a:t>
            </a:r>
            <a:endParaRPr sz="1100" b="1" dirty="0">
              <a:solidFill>
                <a:srgbClr val="1B8F85"/>
              </a:solidFill>
              <a:latin typeface="Aptos"/>
            </a:endParaRPr>
          </a:p>
          <a:p>
            <a:pPr marL="171450" indent="-171450">
              <a:spcAft>
                <a:spcPts val="200"/>
              </a:spcAft>
              <a:buFont typeface="Arial" panose="020B0604020202020204" pitchFamily="34" charset="0"/>
              <a:buChar char="•"/>
            </a:pPr>
            <a:r>
              <a:rPr lang="en-IN" sz="1000" dirty="0">
                <a:solidFill>
                  <a:srgbClr val="283444"/>
                </a:solidFill>
                <a:latin typeface="Aptos"/>
              </a:rPr>
              <a:t>Hospitals face challenges in identifying patients at higher risk of readmission within 30 days of discharge. Analysis of the diabetic patient encounter dataset indicates that previous inpatient visits, longer hospital stays, and medication changes are associated with readmission patterns. However, incomplete clinical data limits the ability to assess patient risk accurately.</a:t>
            </a:r>
          </a:p>
          <a:p>
            <a:pPr marL="171450" indent="-171450">
              <a:spcAft>
                <a:spcPts val="200"/>
              </a:spcAft>
              <a:buFont typeface="Arial" panose="020B0604020202020204" pitchFamily="34" charset="0"/>
              <a:buChar char="•"/>
            </a:pPr>
            <a:r>
              <a:rPr lang="en-IN" sz="1000" dirty="0">
                <a:solidFill>
                  <a:srgbClr val="283444"/>
                </a:solidFill>
                <a:latin typeface="Aptos"/>
              </a:rPr>
              <a:t>The business challenge is to identify high-risk patient groups, enable targeted post-discharge interventions, and evaluate whether these interventions can reduce avoidable readmissions, improve continuity of care, and optimize healthcare costs.</a:t>
            </a:r>
          </a:p>
          <a:p>
            <a:pPr>
              <a:spcBef>
                <a:spcPts val="0"/>
              </a:spcBef>
              <a:spcAft>
                <a:spcPts val="200"/>
              </a:spcAft>
            </a:pPr>
            <a:r>
              <a:rPr lang="en-US" sz="1100" b="0" dirty="0">
                <a:solidFill>
                  <a:srgbClr val="647284"/>
                </a:solidFill>
                <a:latin typeface="Aptos"/>
              </a:rPr>
              <a:t> </a:t>
            </a:r>
            <a:r>
              <a:rPr sz="1100" b="0" dirty="0">
                <a:solidFill>
                  <a:srgbClr val="647284"/>
                </a:solidFill>
                <a:latin typeface="Aptos"/>
              </a:rPr>
              <a:t>.</a:t>
            </a:r>
          </a:p>
          <a:p>
            <a:pPr>
              <a:spcBef>
                <a:spcPts val="0"/>
              </a:spcBef>
              <a:spcAft>
                <a:spcPts val="200"/>
              </a:spcAft>
            </a:pPr>
            <a:r>
              <a:rPr sz="1100" b="1" dirty="0">
                <a:solidFill>
                  <a:srgbClr val="283444"/>
                </a:solidFill>
                <a:latin typeface="Aptos"/>
              </a:rPr>
              <a:t>Baseline formula: 11,357 early readmissions ÷ 101,766 encounters = 11.16%</a:t>
            </a:r>
            <a:r>
              <a:rPr lang="en-US" sz="1100" b="1" dirty="0">
                <a:solidFill>
                  <a:srgbClr val="283444"/>
                </a:solidFill>
                <a:latin typeface="Aptos"/>
              </a:rPr>
              <a:t> resulted in readmission within 30 days</a:t>
            </a:r>
            <a:r>
              <a:rPr sz="1100" b="1" dirty="0">
                <a:solidFill>
                  <a:srgbClr val="283444"/>
                </a:solidFill>
                <a:latin typeface="Aptos"/>
              </a:rPr>
              <a:t>.</a:t>
            </a:r>
          </a:p>
        </p:txBody>
      </p:sp>
      <p:sp>
        <p:nvSpPr>
          <p:cNvPr id="28" name="Rounded Rectangle 27"/>
          <p:cNvSpPr/>
          <p:nvPr/>
        </p:nvSpPr>
        <p:spPr>
          <a:xfrm>
            <a:off x="523494" y="4057608"/>
            <a:ext cx="5257800" cy="2800391"/>
          </a:xfrm>
          <a:prstGeom prst="roundRect">
            <a:avLst/>
          </a:prstGeom>
          <a:solidFill>
            <a:srgbClr val="E6EFFA"/>
          </a:solidFill>
          <a:ln w="10160">
            <a:solidFill>
              <a:srgbClr val="E6EFFA"/>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dirty="0">
                <a:solidFill>
                  <a:srgbClr val="2A67B2"/>
                </a:solidFill>
                <a:latin typeface="Aptos"/>
              </a:rPr>
              <a:t>WHY THIS BASELINE MATTERS</a:t>
            </a:r>
          </a:p>
          <a:p>
            <a:pPr>
              <a:spcBef>
                <a:spcPts val="0"/>
              </a:spcBef>
              <a:spcAft>
                <a:spcPts val="500"/>
              </a:spcAft>
            </a:pPr>
            <a:r>
              <a:rPr sz="1600" b="1" dirty="0">
                <a:solidFill>
                  <a:srgbClr val="13233A"/>
                </a:solidFill>
                <a:latin typeface="Aptos"/>
              </a:rPr>
              <a:t>It is the reference point for measuring improvement—not proof that an intervention will work.</a:t>
            </a:r>
          </a:p>
          <a:p>
            <a:pPr marL="171450" indent="-171450">
              <a:spcBef>
                <a:spcPts val="0"/>
              </a:spcBef>
              <a:spcAft>
                <a:spcPts val="200"/>
              </a:spcAft>
              <a:buFont typeface="Arial" panose="020B0604020202020204" pitchFamily="34" charset="0"/>
              <a:buChar char="•"/>
            </a:pPr>
            <a:r>
              <a:rPr lang="en-US" sz="1100" b="0" dirty="0">
                <a:solidFill>
                  <a:srgbClr val="283444"/>
                </a:solidFill>
                <a:latin typeface="Aptos"/>
              </a:rPr>
              <a:t>Readmitted within 30 days (&lt;30) : 11,357</a:t>
            </a:r>
          </a:p>
          <a:p>
            <a:pPr marL="171450" indent="-171450">
              <a:spcAft>
                <a:spcPts val="200"/>
              </a:spcAft>
              <a:buFont typeface="Arial" panose="020B0604020202020204" pitchFamily="34" charset="0"/>
              <a:buChar char="•"/>
            </a:pPr>
            <a:r>
              <a:rPr lang="en-US" sz="1100" dirty="0">
                <a:solidFill>
                  <a:srgbClr val="283444"/>
                </a:solidFill>
                <a:latin typeface="Aptos"/>
              </a:rPr>
              <a:t>Readmitted after 30 days (&gt;30) : 35,545</a:t>
            </a:r>
          </a:p>
          <a:p>
            <a:pPr marL="171450" indent="-171450">
              <a:spcAft>
                <a:spcPts val="200"/>
              </a:spcAft>
              <a:buFont typeface="Arial" panose="020B0604020202020204" pitchFamily="34" charset="0"/>
              <a:buChar char="•"/>
            </a:pPr>
            <a:r>
              <a:rPr lang="en-IN" sz="1100" dirty="0">
                <a:solidFill>
                  <a:srgbClr val="283444"/>
                </a:solidFill>
                <a:latin typeface="Aptos"/>
              </a:rPr>
              <a:t>No recorded readmission : 54,864</a:t>
            </a:r>
          </a:p>
          <a:p>
            <a:pPr marL="171450" indent="-171450">
              <a:spcAft>
                <a:spcPts val="200"/>
              </a:spcAft>
              <a:buFont typeface="Arial" panose="020B0604020202020204" pitchFamily="34" charset="0"/>
              <a:buChar char="•"/>
            </a:pPr>
            <a:r>
              <a:rPr lang="en-IN" sz="1100" dirty="0">
                <a:solidFill>
                  <a:srgbClr val="283444"/>
                </a:solidFill>
                <a:latin typeface="Aptos"/>
              </a:rPr>
              <a:t>Total Encounters: 101,766</a:t>
            </a:r>
            <a:endParaRPr lang="en-US" sz="1100" dirty="0">
              <a:solidFill>
                <a:srgbClr val="283444"/>
              </a:solidFill>
              <a:latin typeface="Aptos"/>
            </a:endParaRPr>
          </a:p>
          <a:p>
            <a:pPr>
              <a:spcBef>
                <a:spcPts val="0"/>
              </a:spcBef>
              <a:spcAft>
                <a:spcPts val="200"/>
              </a:spcAft>
            </a:pPr>
            <a:endParaRPr lang="en-US" sz="1100" b="0" dirty="0">
              <a:solidFill>
                <a:srgbClr val="283444"/>
              </a:solidFill>
              <a:latin typeface="Aptos"/>
            </a:endParaRPr>
          </a:p>
          <a:p>
            <a:pPr>
              <a:spcBef>
                <a:spcPts val="0"/>
              </a:spcBef>
              <a:spcAft>
                <a:spcPts val="200"/>
              </a:spcAft>
            </a:pPr>
            <a:r>
              <a:rPr lang="en-US" sz="1100" dirty="0">
                <a:solidFill>
                  <a:srgbClr val="283444"/>
                </a:solidFill>
                <a:latin typeface="Aptos"/>
              </a:rPr>
              <a:t>Total Readmission: 11,357 + 35,545 = 46,902</a:t>
            </a:r>
          </a:p>
          <a:p>
            <a:pPr>
              <a:spcBef>
                <a:spcPts val="0"/>
              </a:spcBef>
              <a:spcAft>
                <a:spcPts val="200"/>
              </a:spcAft>
            </a:pPr>
            <a:r>
              <a:rPr lang="en-US" sz="1100" b="0" dirty="0">
                <a:solidFill>
                  <a:srgbClr val="283444"/>
                </a:solidFill>
                <a:latin typeface="Aptos"/>
              </a:rPr>
              <a:t>Baseline formula for overall Readmission : 46,902/ 101,766 =46.09 </a:t>
            </a:r>
            <a:endParaRPr sz="1100" b="0" dirty="0">
              <a:solidFill>
                <a:srgbClr val="647284"/>
              </a:solidFill>
              <a:latin typeface="Aptos"/>
            </a:endParaRPr>
          </a:p>
        </p:txBody>
      </p:sp>
      <p:sp>
        <p:nvSpPr>
          <p:cNvPr id="31" name="TextBox 30"/>
          <p:cNvSpPr txBox="1"/>
          <p:nvPr/>
        </p:nvSpPr>
        <p:spPr>
          <a:xfrm>
            <a:off x="11023092" y="6152621"/>
            <a:ext cx="548640" cy="182880"/>
          </a:xfrm>
          <a:prstGeom prst="rect">
            <a:avLst/>
          </a:prstGeom>
          <a:noFill/>
        </p:spPr>
        <p:txBody>
          <a:bodyPr wrap="square" lIns="36576" tIns="36576" rIns="36576" bIns="36576" anchor="t">
            <a:spAutoFit/>
          </a:bodyPr>
          <a:lstStyle/>
          <a:p>
            <a:pPr algn="r">
              <a:spcAft>
                <a:spcPts val="0"/>
              </a:spcAft>
            </a:pPr>
            <a:r>
              <a:rPr sz="900" b="1">
                <a:solidFill>
                  <a:srgbClr val="647284"/>
                </a:solidFill>
                <a:latin typeface="Aptos"/>
              </a:rPr>
              <a:t>1 / 5</a:t>
            </a:r>
          </a:p>
        </p:txBody>
      </p:sp>
      <p:sp>
        <p:nvSpPr>
          <p:cNvPr id="35" name="Rounded Rectangle 26">
            <a:extLst>
              <a:ext uri="{FF2B5EF4-FFF2-40B4-BE49-F238E27FC236}">
                <a16:creationId xmlns:a16="http://schemas.microsoft.com/office/drawing/2014/main" id="{C6B2D31B-0AD5-FEA6-0AEA-5A153EDC1407}"/>
              </a:ext>
            </a:extLst>
          </p:cNvPr>
          <p:cNvSpPr/>
          <p:nvPr/>
        </p:nvSpPr>
        <p:spPr>
          <a:xfrm>
            <a:off x="457200" y="2810489"/>
            <a:ext cx="5349240" cy="1046074"/>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endParaRPr lang="en-US" sz="1100" b="1" dirty="0">
              <a:solidFill>
                <a:srgbClr val="1B8F85"/>
              </a:solidFill>
              <a:latin typeface="Aptos"/>
            </a:endParaRPr>
          </a:p>
          <a:p>
            <a:pPr algn="ctr">
              <a:spcBef>
                <a:spcPts val="0"/>
              </a:spcBef>
              <a:spcAft>
                <a:spcPts val="200"/>
              </a:spcAft>
            </a:pPr>
            <a:endParaRPr lang="en-US" sz="1100" b="1" dirty="0">
              <a:solidFill>
                <a:srgbClr val="1B8F85"/>
              </a:solidFill>
              <a:latin typeface="Aptos"/>
            </a:endParaRPr>
          </a:p>
          <a:p>
            <a:pPr algn="ctr">
              <a:spcBef>
                <a:spcPts val="0"/>
              </a:spcBef>
              <a:spcAft>
                <a:spcPts val="200"/>
              </a:spcAft>
            </a:pPr>
            <a:r>
              <a:rPr lang="en-US" sz="1100" b="1" dirty="0">
                <a:solidFill>
                  <a:srgbClr val="1B8F85"/>
                </a:solidFill>
                <a:latin typeface="Aptos"/>
              </a:rPr>
              <a:t>Key Findings</a:t>
            </a:r>
            <a:endParaRPr lang="en-US" sz="1100" dirty="0">
              <a:solidFill>
                <a:srgbClr val="283444"/>
              </a:solidFill>
              <a:latin typeface="Aptos"/>
            </a:endParaRPr>
          </a:p>
          <a:p>
            <a:pPr marL="171450" indent="-171450">
              <a:spcAft>
                <a:spcPts val="200"/>
              </a:spcAft>
              <a:buFont typeface="Arial" panose="020B0604020202020204" pitchFamily="34" charset="0"/>
              <a:buChar char="•"/>
            </a:pPr>
            <a:r>
              <a:rPr lang="en-IN" sz="1100" dirty="0">
                <a:solidFill>
                  <a:srgbClr val="283444"/>
                </a:solidFill>
                <a:latin typeface="Aptos"/>
              </a:rPr>
              <a:t>Previous hospital visits → Higher chance of readmission</a:t>
            </a:r>
          </a:p>
          <a:p>
            <a:pPr marL="171450" indent="-171450">
              <a:spcAft>
                <a:spcPts val="200"/>
              </a:spcAft>
              <a:buFont typeface="Arial" panose="020B0604020202020204" pitchFamily="34" charset="0"/>
              <a:buChar char="•"/>
            </a:pPr>
            <a:r>
              <a:rPr lang="en-IN" sz="1100" dirty="0">
                <a:solidFill>
                  <a:srgbClr val="283444"/>
                </a:solidFill>
                <a:latin typeface="Aptos"/>
              </a:rPr>
              <a:t>Longer hospital stay → More complicated cases</a:t>
            </a:r>
          </a:p>
          <a:p>
            <a:pPr marL="171450" indent="-171450">
              <a:spcAft>
                <a:spcPts val="200"/>
              </a:spcAft>
              <a:buFont typeface="Arial" panose="020B0604020202020204" pitchFamily="34" charset="0"/>
              <a:buChar char="•"/>
            </a:pPr>
            <a:r>
              <a:rPr lang="en-IN" sz="1100" dirty="0">
                <a:solidFill>
                  <a:srgbClr val="283444"/>
                </a:solidFill>
                <a:latin typeface="Aptos"/>
              </a:rPr>
              <a:t>Medication changes → A possible warning sign</a:t>
            </a:r>
          </a:p>
          <a:p>
            <a:pPr marL="171450" indent="-171450">
              <a:spcAft>
                <a:spcPts val="200"/>
              </a:spcAft>
              <a:buFont typeface="Arial" panose="020B0604020202020204" pitchFamily="34" charset="0"/>
              <a:buChar char="•"/>
            </a:pPr>
            <a:r>
              <a:rPr lang="en-IN" sz="1100" dirty="0">
                <a:solidFill>
                  <a:srgbClr val="283444"/>
                </a:solidFill>
                <a:latin typeface="Aptos"/>
              </a:rPr>
              <a:t>Missing data → Trying to solve a puzzle with missing pieces</a:t>
            </a:r>
          </a:p>
          <a:p>
            <a:pPr algn="ctr">
              <a:spcAft>
                <a:spcPts val="200"/>
              </a:spcAft>
            </a:pPr>
            <a:endParaRPr lang="en-IN" sz="1100" b="1" dirty="0">
              <a:solidFill>
                <a:srgbClr val="283444"/>
              </a:solidFill>
              <a:latin typeface="Aptos"/>
            </a:endParaRPr>
          </a:p>
          <a:p>
            <a:pPr algn="ctr">
              <a:spcBef>
                <a:spcPts val="0"/>
              </a:spcBef>
              <a:spcAft>
                <a:spcPts val="200"/>
              </a:spcAft>
            </a:pPr>
            <a:endParaRPr sz="1100" b="1" dirty="0">
              <a:solidFill>
                <a:srgbClr val="1B8F85"/>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6144"/>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7" y="45720"/>
            <a:ext cx="11155680" cy="458587"/>
          </a:xfrm>
          <a:prstGeom prst="rect">
            <a:avLst/>
          </a:prstGeom>
          <a:noFill/>
        </p:spPr>
        <p:txBody>
          <a:bodyPr wrap="square" lIns="36576" tIns="36576" rIns="36576" bIns="36576" anchor="t">
            <a:spAutoFit/>
          </a:bodyPr>
          <a:lstStyle/>
          <a:p>
            <a:pPr>
              <a:spcAft>
                <a:spcPts val="0"/>
              </a:spcAft>
            </a:pPr>
            <a:r>
              <a:rPr sz="2500" b="1" dirty="0">
                <a:solidFill>
                  <a:srgbClr val="13233A"/>
                </a:solidFill>
                <a:latin typeface="Aptos"/>
              </a:rPr>
              <a:t>Find concentration: where is the risk clustered?</a:t>
            </a:r>
            <a:r>
              <a:rPr lang="en-US" sz="2500" b="1" dirty="0">
                <a:solidFill>
                  <a:srgbClr val="13233A"/>
                </a:solidFill>
                <a:latin typeface="Aptos"/>
              </a:rPr>
              <a:t> : Step 3</a:t>
            </a:r>
            <a:endParaRPr sz="2500" b="1" dirty="0">
              <a:solidFill>
                <a:srgbClr val="13233A"/>
              </a:solidFill>
              <a:latin typeface="Aptos"/>
            </a:endParaRPr>
          </a:p>
        </p:txBody>
      </p:sp>
      <p:sp>
        <p:nvSpPr>
          <p:cNvPr id="5" name="TextBox 4"/>
          <p:cNvSpPr txBox="1"/>
          <p:nvPr/>
        </p:nvSpPr>
        <p:spPr>
          <a:xfrm>
            <a:off x="477238" y="563497"/>
            <a:ext cx="10972800" cy="329184"/>
          </a:xfrm>
          <a:prstGeom prst="rect">
            <a:avLst/>
          </a:prstGeom>
          <a:noFill/>
        </p:spPr>
        <p:txBody>
          <a:bodyPr wrap="square" lIns="36576" tIns="36576" rIns="36576" bIns="36576" anchor="t">
            <a:spAutoFit/>
          </a:bodyPr>
          <a:lstStyle/>
          <a:p>
            <a:pPr>
              <a:spcAft>
                <a:spcPts val="0"/>
              </a:spcAft>
            </a:pPr>
            <a:r>
              <a:rPr sz="1100" b="0">
                <a:solidFill>
                  <a:srgbClr val="647284"/>
                </a:solidFill>
                <a:latin typeface="Aptos"/>
              </a:rPr>
              <a:t>Look for a segment with a materially higher rate and enough volume to make action worthwhile.</a:t>
            </a:r>
          </a:p>
        </p:txBody>
      </p:sp>
      <p:sp>
        <p:nvSpPr>
          <p:cNvPr id="6" name="Rectangle 5"/>
          <p:cNvSpPr/>
          <p:nvPr/>
        </p:nvSpPr>
        <p:spPr>
          <a:xfrm>
            <a:off x="559082" y="839420"/>
            <a:ext cx="11155680" cy="16459"/>
          </a:xfrm>
          <a:prstGeom prst="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2958" y="1148708"/>
            <a:ext cx="4937760" cy="243143"/>
          </a:xfrm>
          <a:prstGeom prst="rect">
            <a:avLst/>
          </a:prstGeom>
          <a:noFill/>
        </p:spPr>
        <p:txBody>
          <a:bodyPr wrap="square" lIns="36576" tIns="36576" rIns="36576" bIns="36576" anchor="t">
            <a:spAutoFit/>
          </a:bodyPr>
          <a:lstStyle/>
          <a:p>
            <a:pPr>
              <a:spcAft>
                <a:spcPts val="0"/>
              </a:spcAft>
            </a:pPr>
            <a:r>
              <a:rPr sz="1100" b="1" dirty="0">
                <a:solidFill>
                  <a:srgbClr val="647284"/>
                </a:solidFill>
                <a:latin typeface="Aptos"/>
              </a:rPr>
              <a:t>EARLY READMISSION BY PR</a:t>
            </a:r>
            <a:r>
              <a:rPr lang="en-US" sz="1100" b="1" dirty="0">
                <a:solidFill>
                  <a:srgbClr val="647284"/>
                </a:solidFill>
                <a:latin typeface="Aptos"/>
              </a:rPr>
              <a:t>IOR</a:t>
            </a:r>
            <a:r>
              <a:rPr sz="1100" b="1" dirty="0">
                <a:solidFill>
                  <a:srgbClr val="647284"/>
                </a:solidFill>
                <a:latin typeface="Aptos"/>
              </a:rPr>
              <a:t> INPATIENT VISITS</a:t>
            </a:r>
          </a:p>
        </p:txBody>
      </p:sp>
      <p:sp>
        <p:nvSpPr>
          <p:cNvPr id="8" name="TextBox 7"/>
          <p:cNvSpPr txBox="1"/>
          <p:nvPr/>
        </p:nvSpPr>
        <p:spPr>
          <a:xfrm>
            <a:off x="550390" y="1578476"/>
            <a:ext cx="960120" cy="412421"/>
          </a:xfrm>
          <a:prstGeom prst="rect">
            <a:avLst/>
          </a:prstGeom>
          <a:noFill/>
        </p:spPr>
        <p:txBody>
          <a:bodyPr wrap="square" lIns="36576" tIns="36576" rIns="36576" bIns="36576" anchor="t">
            <a:spAutoFit/>
          </a:bodyPr>
          <a:lstStyle/>
          <a:p>
            <a:pPr>
              <a:spcAft>
                <a:spcPts val="0"/>
              </a:spcAft>
            </a:pPr>
            <a:r>
              <a:rPr sz="1100" b="1" dirty="0">
                <a:solidFill>
                  <a:srgbClr val="283444"/>
                </a:solidFill>
                <a:latin typeface="Aptos"/>
              </a:rPr>
              <a:t>0 prior</a:t>
            </a:r>
            <a:r>
              <a:rPr lang="en-US" sz="1100" b="1" dirty="0">
                <a:solidFill>
                  <a:srgbClr val="283444"/>
                </a:solidFill>
                <a:latin typeface="Aptos"/>
              </a:rPr>
              <a:t> – Group A</a:t>
            </a:r>
            <a:endParaRPr sz="1100" b="1" dirty="0">
              <a:solidFill>
                <a:srgbClr val="283444"/>
              </a:solidFill>
              <a:latin typeface="Aptos"/>
            </a:endParaRPr>
          </a:p>
        </p:txBody>
      </p:sp>
      <p:sp>
        <p:nvSpPr>
          <p:cNvPr id="9" name="Rounded Rectangle 8"/>
          <p:cNvSpPr/>
          <p:nvPr/>
        </p:nvSpPr>
        <p:spPr>
          <a:xfrm>
            <a:off x="1556230" y="1596764"/>
            <a:ext cx="2743200" cy="228600"/>
          </a:xfrm>
          <a:prstGeom prst="round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556230" y="1596764"/>
            <a:ext cx="771753" cy="228600"/>
          </a:xfrm>
          <a:prstGeom prst="roundRect">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8302" y="1569332"/>
            <a:ext cx="731520" cy="274320"/>
          </a:xfrm>
          <a:prstGeom prst="rect">
            <a:avLst/>
          </a:prstGeom>
          <a:noFill/>
        </p:spPr>
        <p:txBody>
          <a:bodyPr wrap="square" lIns="36576" tIns="36576" rIns="36576" bIns="36576" anchor="t">
            <a:spAutoFit/>
          </a:bodyPr>
          <a:lstStyle/>
          <a:p>
            <a:pPr>
              <a:spcAft>
                <a:spcPts val="0"/>
              </a:spcAft>
            </a:pPr>
            <a:r>
              <a:rPr sz="1100" b="1">
                <a:solidFill>
                  <a:srgbClr val="13233A"/>
                </a:solidFill>
                <a:latin typeface="Aptos"/>
              </a:rPr>
              <a:t>8.44%</a:t>
            </a:r>
          </a:p>
        </p:txBody>
      </p:sp>
      <p:sp>
        <p:nvSpPr>
          <p:cNvPr id="12" name="TextBox 11"/>
          <p:cNvSpPr txBox="1"/>
          <p:nvPr/>
        </p:nvSpPr>
        <p:spPr>
          <a:xfrm>
            <a:off x="5094958" y="1584676"/>
            <a:ext cx="868680" cy="274320"/>
          </a:xfrm>
          <a:prstGeom prst="rect">
            <a:avLst/>
          </a:prstGeom>
          <a:noFill/>
        </p:spPr>
        <p:txBody>
          <a:bodyPr wrap="square" lIns="36576" tIns="36576" rIns="36576" bIns="36576" anchor="t">
            <a:spAutoFit/>
          </a:bodyPr>
          <a:lstStyle/>
          <a:p>
            <a:pPr>
              <a:spcAft>
                <a:spcPts val="0"/>
              </a:spcAft>
            </a:pPr>
            <a:r>
              <a:rPr sz="900" b="0">
                <a:solidFill>
                  <a:srgbClr val="647284"/>
                </a:solidFill>
                <a:latin typeface="Aptos"/>
              </a:rPr>
              <a:t>n=67,630</a:t>
            </a:r>
          </a:p>
        </p:txBody>
      </p:sp>
      <p:sp>
        <p:nvSpPr>
          <p:cNvPr id="13" name="TextBox 12"/>
          <p:cNvSpPr txBox="1"/>
          <p:nvPr/>
        </p:nvSpPr>
        <p:spPr>
          <a:xfrm>
            <a:off x="550390" y="2291708"/>
            <a:ext cx="960120" cy="412421"/>
          </a:xfrm>
          <a:prstGeom prst="rect">
            <a:avLst/>
          </a:prstGeom>
          <a:noFill/>
        </p:spPr>
        <p:txBody>
          <a:bodyPr wrap="square" lIns="36576" tIns="36576" rIns="36576" bIns="36576" anchor="t">
            <a:spAutoFit/>
          </a:bodyPr>
          <a:lstStyle/>
          <a:p>
            <a:pPr>
              <a:spcAft>
                <a:spcPts val="0"/>
              </a:spcAft>
            </a:pPr>
            <a:r>
              <a:rPr lang="en-IN" sz="1100" b="1" dirty="0">
                <a:solidFill>
                  <a:srgbClr val="283444"/>
                </a:solidFill>
                <a:latin typeface="Aptos"/>
              </a:rPr>
              <a:t>1 prev – Group B</a:t>
            </a:r>
            <a:endParaRPr sz="1100" b="1" dirty="0">
              <a:solidFill>
                <a:srgbClr val="283444"/>
              </a:solidFill>
              <a:latin typeface="Aptos"/>
            </a:endParaRPr>
          </a:p>
        </p:txBody>
      </p:sp>
      <p:sp>
        <p:nvSpPr>
          <p:cNvPr id="14" name="Rounded Rectangle 13"/>
          <p:cNvSpPr/>
          <p:nvPr/>
        </p:nvSpPr>
        <p:spPr>
          <a:xfrm>
            <a:off x="1556230" y="2309996"/>
            <a:ext cx="2743200" cy="228600"/>
          </a:xfrm>
          <a:prstGeom prst="round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556230" y="2309996"/>
            <a:ext cx="1181404" cy="228600"/>
          </a:xfrm>
          <a:prstGeom prst="roundRect">
            <a:avLst/>
          </a:prstGeom>
          <a:solidFill>
            <a:srgbClr val="2A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8302" y="2282564"/>
            <a:ext cx="731520" cy="274320"/>
          </a:xfrm>
          <a:prstGeom prst="rect">
            <a:avLst/>
          </a:prstGeom>
          <a:noFill/>
        </p:spPr>
        <p:txBody>
          <a:bodyPr wrap="square" lIns="36576" tIns="36576" rIns="36576" bIns="36576" anchor="t">
            <a:spAutoFit/>
          </a:bodyPr>
          <a:lstStyle/>
          <a:p>
            <a:pPr>
              <a:spcAft>
                <a:spcPts val="0"/>
              </a:spcAft>
            </a:pPr>
            <a:r>
              <a:rPr sz="1100" b="1">
                <a:solidFill>
                  <a:srgbClr val="13233A"/>
                </a:solidFill>
                <a:latin typeface="Aptos"/>
              </a:rPr>
              <a:t>12.92%</a:t>
            </a:r>
          </a:p>
        </p:txBody>
      </p:sp>
      <p:sp>
        <p:nvSpPr>
          <p:cNvPr id="17" name="TextBox 16"/>
          <p:cNvSpPr txBox="1"/>
          <p:nvPr/>
        </p:nvSpPr>
        <p:spPr>
          <a:xfrm>
            <a:off x="5094958" y="2297908"/>
            <a:ext cx="868680" cy="274320"/>
          </a:xfrm>
          <a:prstGeom prst="rect">
            <a:avLst/>
          </a:prstGeom>
          <a:noFill/>
        </p:spPr>
        <p:txBody>
          <a:bodyPr wrap="square" lIns="36576" tIns="36576" rIns="36576" bIns="36576" anchor="t">
            <a:spAutoFit/>
          </a:bodyPr>
          <a:lstStyle/>
          <a:p>
            <a:pPr>
              <a:spcAft>
                <a:spcPts val="0"/>
              </a:spcAft>
            </a:pPr>
            <a:r>
              <a:rPr sz="900" b="0">
                <a:solidFill>
                  <a:srgbClr val="647284"/>
                </a:solidFill>
                <a:latin typeface="Aptos"/>
              </a:rPr>
              <a:t>n=19,521</a:t>
            </a:r>
          </a:p>
        </p:txBody>
      </p:sp>
      <p:sp>
        <p:nvSpPr>
          <p:cNvPr id="18" name="TextBox 17"/>
          <p:cNvSpPr txBox="1"/>
          <p:nvPr/>
        </p:nvSpPr>
        <p:spPr>
          <a:xfrm>
            <a:off x="550390" y="3004940"/>
            <a:ext cx="960120" cy="412421"/>
          </a:xfrm>
          <a:prstGeom prst="rect">
            <a:avLst/>
          </a:prstGeom>
          <a:noFill/>
        </p:spPr>
        <p:txBody>
          <a:bodyPr wrap="square" lIns="36576" tIns="36576" rIns="36576" bIns="36576" anchor="t">
            <a:spAutoFit/>
          </a:bodyPr>
          <a:lstStyle/>
          <a:p>
            <a:pPr>
              <a:spcAft>
                <a:spcPts val="0"/>
              </a:spcAft>
            </a:pPr>
            <a:r>
              <a:rPr lang="en-IN" sz="1100" b="1" dirty="0">
                <a:solidFill>
                  <a:srgbClr val="283444"/>
                </a:solidFill>
                <a:latin typeface="Aptos"/>
              </a:rPr>
              <a:t>2 prior – Group C </a:t>
            </a:r>
            <a:endParaRPr sz="1100" b="1" dirty="0">
              <a:solidFill>
                <a:srgbClr val="283444"/>
              </a:solidFill>
              <a:latin typeface="Aptos"/>
            </a:endParaRPr>
          </a:p>
        </p:txBody>
      </p:sp>
      <p:sp>
        <p:nvSpPr>
          <p:cNvPr id="19" name="Rounded Rectangle 18"/>
          <p:cNvSpPr/>
          <p:nvPr/>
        </p:nvSpPr>
        <p:spPr>
          <a:xfrm>
            <a:off x="1556230" y="3023228"/>
            <a:ext cx="2743200" cy="228600"/>
          </a:xfrm>
          <a:prstGeom prst="round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556230" y="3023228"/>
            <a:ext cx="1593799" cy="228600"/>
          </a:xfrm>
          <a:prstGeom prst="roundRect">
            <a:avLst/>
          </a:prstGeom>
          <a:solidFill>
            <a:srgbClr val="2A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18302" y="2995796"/>
            <a:ext cx="731520" cy="274320"/>
          </a:xfrm>
          <a:prstGeom prst="rect">
            <a:avLst/>
          </a:prstGeom>
          <a:noFill/>
        </p:spPr>
        <p:txBody>
          <a:bodyPr wrap="square" lIns="36576" tIns="36576" rIns="36576" bIns="36576" anchor="t">
            <a:spAutoFit/>
          </a:bodyPr>
          <a:lstStyle/>
          <a:p>
            <a:pPr>
              <a:spcAft>
                <a:spcPts val="0"/>
              </a:spcAft>
            </a:pPr>
            <a:r>
              <a:rPr sz="1100" b="1" dirty="0">
                <a:solidFill>
                  <a:srgbClr val="13233A"/>
                </a:solidFill>
                <a:latin typeface="Aptos"/>
              </a:rPr>
              <a:t>17.43%</a:t>
            </a:r>
          </a:p>
        </p:txBody>
      </p:sp>
      <p:sp>
        <p:nvSpPr>
          <p:cNvPr id="22" name="TextBox 21"/>
          <p:cNvSpPr txBox="1"/>
          <p:nvPr/>
        </p:nvSpPr>
        <p:spPr>
          <a:xfrm>
            <a:off x="5094958" y="3011140"/>
            <a:ext cx="868680" cy="274320"/>
          </a:xfrm>
          <a:prstGeom prst="rect">
            <a:avLst/>
          </a:prstGeom>
          <a:noFill/>
        </p:spPr>
        <p:txBody>
          <a:bodyPr wrap="square" lIns="36576" tIns="36576" rIns="36576" bIns="36576" anchor="t">
            <a:spAutoFit/>
          </a:bodyPr>
          <a:lstStyle/>
          <a:p>
            <a:pPr>
              <a:spcAft>
                <a:spcPts val="0"/>
              </a:spcAft>
            </a:pPr>
            <a:r>
              <a:rPr sz="900" b="0">
                <a:solidFill>
                  <a:srgbClr val="647284"/>
                </a:solidFill>
                <a:latin typeface="Aptos"/>
              </a:rPr>
              <a:t>n=7,566</a:t>
            </a:r>
          </a:p>
        </p:txBody>
      </p:sp>
      <p:sp>
        <p:nvSpPr>
          <p:cNvPr id="23" name="TextBox 22"/>
          <p:cNvSpPr txBox="1"/>
          <p:nvPr/>
        </p:nvSpPr>
        <p:spPr>
          <a:xfrm>
            <a:off x="559082" y="3491623"/>
            <a:ext cx="868680" cy="581698"/>
          </a:xfrm>
          <a:prstGeom prst="rect">
            <a:avLst/>
          </a:prstGeom>
          <a:noFill/>
        </p:spPr>
        <p:txBody>
          <a:bodyPr wrap="square" lIns="36576" tIns="36576" rIns="36576" bIns="36576" anchor="t">
            <a:spAutoFit/>
          </a:bodyPr>
          <a:lstStyle/>
          <a:p>
            <a:pPr>
              <a:spcAft>
                <a:spcPts val="0"/>
              </a:spcAft>
            </a:pPr>
            <a:r>
              <a:rPr lang="en-US" sz="1100" b="1" dirty="0">
                <a:solidFill>
                  <a:srgbClr val="283444"/>
                </a:solidFill>
                <a:latin typeface="Aptos"/>
              </a:rPr>
              <a:t>3 or more prior - Group D</a:t>
            </a:r>
            <a:endParaRPr sz="1100" b="1" dirty="0">
              <a:solidFill>
                <a:srgbClr val="283444"/>
              </a:solidFill>
              <a:latin typeface="Aptos"/>
            </a:endParaRPr>
          </a:p>
        </p:txBody>
      </p:sp>
      <p:sp>
        <p:nvSpPr>
          <p:cNvPr id="24" name="Rounded Rectangle 23"/>
          <p:cNvSpPr/>
          <p:nvPr/>
        </p:nvSpPr>
        <p:spPr>
          <a:xfrm>
            <a:off x="1556230" y="3736459"/>
            <a:ext cx="2743200" cy="228600"/>
          </a:xfrm>
          <a:prstGeom prst="round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556230" y="3736459"/>
            <a:ext cx="2346350" cy="228600"/>
          </a:xfrm>
          <a:prstGeom prst="roundRect">
            <a:avLst/>
          </a:prstGeom>
          <a:solidFill>
            <a:srgbClr val="C2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18302" y="3709028"/>
            <a:ext cx="731520" cy="274320"/>
          </a:xfrm>
          <a:prstGeom prst="rect">
            <a:avLst/>
          </a:prstGeom>
          <a:noFill/>
        </p:spPr>
        <p:txBody>
          <a:bodyPr wrap="square" lIns="36576" tIns="36576" rIns="36576" bIns="36576" anchor="t">
            <a:spAutoFit/>
          </a:bodyPr>
          <a:lstStyle/>
          <a:p>
            <a:pPr>
              <a:spcAft>
                <a:spcPts val="0"/>
              </a:spcAft>
            </a:pPr>
            <a:r>
              <a:rPr sz="1100" b="1">
                <a:solidFill>
                  <a:srgbClr val="C24B48"/>
                </a:solidFill>
                <a:latin typeface="Aptos"/>
              </a:rPr>
              <a:t>25.66%</a:t>
            </a:r>
          </a:p>
        </p:txBody>
      </p:sp>
      <p:sp>
        <p:nvSpPr>
          <p:cNvPr id="27" name="TextBox 26"/>
          <p:cNvSpPr txBox="1"/>
          <p:nvPr/>
        </p:nvSpPr>
        <p:spPr>
          <a:xfrm>
            <a:off x="5094958" y="3724372"/>
            <a:ext cx="868680" cy="274320"/>
          </a:xfrm>
          <a:prstGeom prst="rect">
            <a:avLst/>
          </a:prstGeom>
          <a:noFill/>
        </p:spPr>
        <p:txBody>
          <a:bodyPr wrap="square" lIns="36576" tIns="36576" rIns="36576" bIns="36576" anchor="t">
            <a:spAutoFit/>
          </a:bodyPr>
          <a:lstStyle/>
          <a:p>
            <a:pPr>
              <a:spcAft>
                <a:spcPts val="0"/>
              </a:spcAft>
            </a:pPr>
            <a:r>
              <a:rPr sz="900" b="0">
                <a:solidFill>
                  <a:srgbClr val="647284"/>
                </a:solidFill>
                <a:latin typeface="Aptos"/>
              </a:rPr>
              <a:t>n=7,049</a:t>
            </a:r>
          </a:p>
        </p:txBody>
      </p:sp>
      <p:sp>
        <p:nvSpPr>
          <p:cNvPr id="28" name="Rounded Rectangle 27"/>
          <p:cNvSpPr/>
          <p:nvPr/>
        </p:nvSpPr>
        <p:spPr>
          <a:xfrm>
            <a:off x="6585926" y="1776033"/>
            <a:ext cx="4983480" cy="1600200"/>
          </a:xfrm>
          <a:prstGeom prst="roundRect">
            <a:avLst/>
          </a:prstGeom>
          <a:solidFill>
            <a:srgbClr val="FAE8E7"/>
          </a:solidFill>
          <a:ln w="10160">
            <a:solidFill>
              <a:srgbClr val="FAE8E7"/>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dirty="0">
                <a:solidFill>
                  <a:srgbClr val="C24B48"/>
                </a:solidFill>
                <a:latin typeface="Aptos"/>
              </a:rPr>
              <a:t>CONCENTRATION SIGNAL</a:t>
            </a:r>
          </a:p>
          <a:p>
            <a:pPr>
              <a:spcBef>
                <a:spcPts val="0"/>
              </a:spcBef>
              <a:spcAft>
                <a:spcPts val="500"/>
              </a:spcAft>
            </a:pPr>
            <a:r>
              <a:rPr sz="1700" b="1" dirty="0">
                <a:solidFill>
                  <a:srgbClr val="13233A"/>
                </a:solidFill>
                <a:latin typeface="Aptos"/>
              </a:rPr>
              <a:t>3+ prior inpatient visits: 25.66% early readmission</a:t>
            </a:r>
          </a:p>
          <a:p>
            <a:pPr>
              <a:spcBef>
                <a:spcPts val="0"/>
              </a:spcBef>
              <a:spcAft>
                <a:spcPts val="200"/>
              </a:spcAft>
            </a:pPr>
            <a:r>
              <a:rPr sz="1200" b="0" dirty="0">
                <a:solidFill>
                  <a:srgbClr val="283444"/>
                </a:solidFill>
                <a:latin typeface="Aptos"/>
              </a:rPr>
              <a:t>0 prior visits: 8.44%</a:t>
            </a:r>
          </a:p>
          <a:p>
            <a:pPr>
              <a:spcBef>
                <a:spcPts val="0"/>
              </a:spcBef>
              <a:spcAft>
                <a:spcPts val="200"/>
              </a:spcAft>
            </a:pPr>
            <a:r>
              <a:rPr sz="1200" b="1" dirty="0">
                <a:solidFill>
                  <a:srgbClr val="283444"/>
                </a:solidFill>
                <a:latin typeface="Aptos"/>
              </a:rPr>
              <a:t>Absolute gap: 25.66 − 8.44 = 17.22 percentage points</a:t>
            </a:r>
          </a:p>
          <a:p>
            <a:pPr>
              <a:spcBef>
                <a:spcPts val="0"/>
              </a:spcBef>
              <a:spcAft>
                <a:spcPts val="200"/>
              </a:spcAft>
            </a:pPr>
            <a:r>
              <a:rPr sz="1200" b="1" dirty="0">
                <a:solidFill>
                  <a:srgbClr val="283444"/>
                </a:solidFill>
                <a:latin typeface="Aptos"/>
              </a:rPr>
              <a:t>Rate ratio: 25.66 ÷ 8.44 ≈ 3.04×</a:t>
            </a:r>
          </a:p>
        </p:txBody>
      </p:sp>
      <p:sp>
        <p:nvSpPr>
          <p:cNvPr id="29" name="Rounded Rectangle 28"/>
          <p:cNvSpPr/>
          <p:nvPr/>
        </p:nvSpPr>
        <p:spPr>
          <a:xfrm>
            <a:off x="6571262" y="3491624"/>
            <a:ext cx="4983480" cy="1150236"/>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dirty="0">
                <a:solidFill>
                  <a:srgbClr val="1B8F85"/>
                </a:solidFill>
                <a:latin typeface="Aptos"/>
              </a:rPr>
              <a:t>WHY THIS SEGMENT?</a:t>
            </a:r>
          </a:p>
          <a:p>
            <a:pPr>
              <a:spcBef>
                <a:spcPts val="0"/>
              </a:spcBef>
              <a:spcAft>
                <a:spcPts val="500"/>
              </a:spcAft>
            </a:pPr>
            <a:r>
              <a:rPr sz="1300" b="1" dirty="0">
                <a:solidFill>
                  <a:srgbClr val="13233A"/>
                </a:solidFill>
                <a:latin typeface="Aptos"/>
              </a:rPr>
              <a:t>7,049 encounters are in the 3+ group; 1,809 were readmitted within 30 days.</a:t>
            </a:r>
          </a:p>
          <a:p>
            <a:pPr>
              <a:spcBef>
                <a:spcPts val="0"/>
              </a:spcBef>
              <a:spcAft>
                <a:spcPts val="200"/>
              </a:spcAft>
            </a:pPr>
            <a:r>
              <a:rPr sz="1100" b="0" dirty="0">
                <a:solidFill>
                  <a:srgbClr val="647284"/>
                </a:solidFill>
                <a:latin typeface="Aptos"/>
              </a:rPr>
              <a:t>This is a candidate for targeted outreach—not yet a validated prediction rule.</a:t>
            </a:r>
          </a:p>
        </p:txBody>
      </p:sp>
      <p:sp>
        <p:nvSpPr>
          <p:cNvPr id="30" name="TextBox 29"/>
          <p:cNvSpPr txBox="1"/>
          <p:nvPr/>
        </p:nvSpPr>
        <p:spPr>
          <a:xfrm>
            <a:off x="6456962" y="1222581"/>
            <a:ext cx="5212080" cy="443198"/>
          </a:xfrm>
          <a:prstGeom prst="rect">
            <a:avLst/>
          </a:prstGeom>
          <a:noFill/>
        </p:spPr>
        <p:txBody>
          <a:bodyPr wrap="square" lIns="36576" tIns="36576" rIns="36576" bIns="36576" anchor="t">
            <a:spAutoFit/>
          </a:bodyPr>
          <a:lstStyle/>
          <a:p>
            <a:pPr>
              <a:spcAft>
                <a:spcPts val="0"/>
              </a:spcAft>
            </a:pPr>
            <a:r>
              <a:rPr sz="1200" b="1" dirty="0">
                <a:solidFill>
                  <a:srgbClr val="13233A"/>
                </a:solidFill>
                <a:latin typeface="Aptos"/>
              </a:rPr>
              <a:t>“Find concentration” means identify where risk is elevated, quantify the gap, and check whether the segment is large enough to act on.</a:t>
            </a:r>
          </a:p>
        </p:txBody>
      </p:sp>
      <p:sp>
        <p:nvSpPr>
          <p:cNvPr id="32" name="TextBox 31"/>
          <p:cNvSpPr txBox="1"/>
          <p:nvPr/>
        </p:nvSpPr>
        <p:spPr>
          <a:xfrm>
            <a:off x="11064240" y="6537960"/>
            <a:ext cx="548640" cy="182880"/>
          </a:xfrm>
          <a:prstGeom prst="rect">
            <a:avLst/>
          </a:prstGeom>
          <a:noFill/>
        </p:spPr>
        <p:txBody>
          <a:bodyPr wrap="square" lIns="36576" tIns="36576" rIns="36576" bIns="36576" anchor="t">
            <a:spAutoFit/>
          </a:bodyPr>
          <a:lstStyle/>
          <a:p>
            <a:pPr algn="r">
              <a:spcAft>
                <a:spcPts val="0"/>
              </a:spcAft>
            </a:pPr>
            <a:r>
              <a:rPr sz="900" b="1">
                <a:solidFill>
                  <a:srgbClr val="647284"/>
                </a:solidFill>
                <a:latin typeface="Aptos"/>
              </a:rPr>
              <a:t>2 / 5</a:t>
            </a:r>
          </a:p>
        </p:txBody>
      </p:sp>
      <p:graphicFrame>
        <p:nvGraphicFramePr>
          <p:cNvPr id="34" name="Object 33">
            <a:extLst>
              <a:ext uri="{FF2B5EF4-FFF2-40B4-BE49-F238E27FC236}">
                <a16:creationId xmlns:a16="http://schemas.microsoft.com/office/drawing/2014/main" id="{B0EFA8B0-1DDC-C4B3-35B6-1539D2AC5DC4}"/>
              </a:ext>
            </a:extLst>
          </p:cNvPr>
          <p:cNvGraphicFramePr>
            <a:graphicFrameLocks noChangeAspect="1"/>
          </p:cNvGraphicFramePr>
          <p:nvPr>
            <p:extLst>
              <p:ext uri="{D42A27DB-BD31-4B8C-83A1-F6EECF244321}">
                <p14:modId xmlns:p14="http://schemas.microsoft.com/office/powerpoint/2010/main" val="1340846030"/>
              </p:ext>
            </p:extLst>
          </p:nvPr>
        </p:nvGraphicFramePr>
        <p:xfrm>
          <a:off x="314011" y="4836670"/>
          <a:ext cx="7970837" cy="1730375"/>
        </p:xfrm>
        <a:graphic>
          <a:graphicData uri="http://schemas.openxmlformats.org/presentationml/2006/ole">
            <mc:AlternateContent xmlns:mc="http://schemas.openxmlformats.org/markup-compatibility/2006">
              <mc:Choice xmlns:v="urn:schemas-microsoft-com:vml" Requires="v">
                <p:oleObj name="Worksheet" r:id="rId2" imgW="7970591" imgH="1729913" progId="Excel.Sheet.12">
                  <p:embed/>
                </p:oleObj>
              </mc:Choice>
              <mc:Fallback>
                <p:oleObj name="Worksheet" r:id="rId2" imgW="7970591" imgH="1729913" progId="Excel.Sheet.12">
                  <p:embed/>
                  <p:pic>
                    <p:nvPicPr>
                      <p:cNvPr id="0" name=""/>
                      <p:cNvPicPr/>
                      <p:nvPr/>
                    </p:nvPicPr>
                    <p:blipFill>
                      <a:blip r:embed="rId3"/>
                      <a:stretch>
                        <a:fillRect/>
                      </a:stretch>
                    </p:blipFill>
                    <p:spPr>
                      <a:xfrm>
                        <a:off x="314011" y="4836670"/>
                        <a:ext cx="7970837" cy="1730375"/>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7" y="178308"/>
            <a:ext cx="11155680" cy="458587"/>
          </a:xfrm>
          <a:prstGeom prst="rect">
            <a:avLst/>
          </a:prstGeom>
          <a:noFill/>
        </p:spPr>
        <p:txBody>
          <a:bodyPr wrap="square" lIns="36576" tIns="36576" rIns="36576" bIns="36576" anchor="t">
            <a:spAutoFit/>
          </a:bodyPr>
          <a:lstStyle/>
          <a:p>
            <a:pPr>
              <a:spcAft>
                <a:spcPts val="0"/>
              </a:spcAft>
            </a:pPr>
            <a:r>
              <a:rPr sz="2500" b="1" dirty="0">
                <a:solidFill>
                  <a:srgbClr val="13233A"/>
                </a:solidFill>
                <a:latin typeface="Aptos"/>
              </a:rPr>
              <a:t>Size the value: translate a risk signal into an economic case</a:t>
            </a:r>
            <a:r>
              <a:rPr lang="en-US" sz="2500" b="1" dirty="0">
                <a:solidFill>
                  <a:srgbClr val="13233A"/>
                </a:solidFill>
                <a:latin typeface="Aptos"/>
              </a:rPr>
              <a:t> : Step 4 </a:t>
            </a:r>
            <a:endParaRPr sz="2500" b="1" dirty="0">
              <a:solidFill>
                <a:srgbClr val="13233A"/>
              </a:solidFill>
              <a:latin typeface="Aptos"/>
            </a:endParaRPr>
          </a:p>
        </p:txBody>
      </p:sp>
      <p:sp>
        <p:nvSpPr>
          <p:cNvPr id="5" name="TextBox 4"/>
          <p:cNvSpPr txBox="1"/>
          <p:nvPr/>
        </p:nvSpPr>
        <p:spPr>
          <a:xfrm>
            <a:off x="521207" y="654927"/>
            <a:ext cx="10972800" cy="329184"/>
          </a:xfrm>
          <a:prstGeom prst="rect">
            <a:avLst/>
          </a:prstGeom>
          <a:noFill/>
        </p:spPr>
        <p:txBody>
          <a:bodyPr wrap="square" lIns="36576" tIns="36576" rIns="36576" bIns="36576" anchor="t">
            <a:spAutoFit/>
          </a:bodyPr>
          <a:lstStyle/>
          <a:p>
            <a:pPr>
              <a:spcAft>
                <a:spcPts val="0"/>
              </a:spcAft>
            </a:pPr>
            <a:r>
              <a:rPr sz="1100" b="0" dirty="0">
                <a:solidFill>
                  <a:srgbClr val="647284"/>
                </a:solidFill>
                <a:latin typeface="Aptos"/>
              </a:rPr>
              <a:t>Separate observed facts from scenario assumptions. The dataset contains no cost or intervention-effectiveness fields.</a:t>
            </a:r>
          </a:p>
        </p:txBody>
      </p:sp>
      <p:sp>
        <p:nvSpPr>
          <p:cNvPr id="6" name="Rectangle 5"/>
          <p:cNvSpPr/>
          <p:nvPr/>
        </p:nvSpPr>
        <p:spPr>
          <a:xfrm>
            <a:off x="457200" y="930417"/>
            <a:ext cx="11155680" cy="16459"/>
          </a:xfrm>
          <a:prstGeom prst="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361601"/>
            <a:ext cx="2468880" cy="1188720"/>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 y="1361601"/>
            <a:ext cx="73152" cy="1188720"/>
          </a:xfrm>
          <a:prstGeom prst="rect">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07905"/>
            <a:ext cx="2148840" cy="411480"/>
          </a:xfrm>
          <a:prstGeom prst="rect">
            <a:avLst/>
          </a:prstGeom>
          <a:noFill/>
        </p:spPr>
        <p:txBody>
          <a:bodyPr wrap="square" lIns="36576" tIns="36576" rIns="36576" bIns="36576" anchor="t">
            <a:spAutoFit/>
          </a:bodyPr>
          <a:lstStyle/>
          <a:p>
            <a:pPr>
              <a:spcAft>
                <a:spcPts val="0"/>
              </a:spcAft>
            </a:pPr>
            <a:r>
              <a:rPr sz="2300" b="1">
                <a:solidFill>
                  <a:srgbClr val="1B8F85"/>
                </a:solidFill>
                <a:latin typeface="Aptos"/>
              </a:rPr>
              <a:t>7,049</a:t>
            </a:r>
          </a:p>
        </p:txBody>
      </p:sp>
      <p:sp>
        <p:nvSpPr>
          <p:cNvPr id="10" name="TextBox 9"/>
          <p:cNvSpPr txBox="1"/>
          <p:nvPr/>
        </p:nvSpPr>
        <p:spPr>
          <a:xfrm>
            <a:off x="822960" y="1946817"/>
            <a:ext cx="214884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encounters in 3+ prior-visit segment</a:t>
            </a:r>
          </a:p>
        </p:txBody>
      </p:sp>
      <p:sp>
        <p:nvSpPr>
          <p:cNvPr id="11" name="Rounded Rectangle 10"/>
          <p:cNvSpPr/>
          <p:nvPr/>
        </p:nvSpPr>
        <p:spPr>
          <a:xfrm>
            <a:off x="3246120" y="1361601"/>
            <a:ext cx="2468880" cy="1188720"/>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1361601"/>
            <a:ext cx="73152" cy="1188720"/>
          </a:xfrm>
          <a:prstGeom prst="rect">
            <a:avLst/>
          </a:prstGeom>
          <a:solidFill>
            <a:srgbClr val="C2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47288" y="1507905"/>
            <a:ext cx="2148840" cy="411480"/>
          </a:xfrm>
          <a:prstGeom prst="rect">
            <a:avLst/>
          </a:prstGeom>
          <a:noFill/>
        </p:spPr>
        <p:txBody>
          <a:bodyPr wrap="square" lIns="36576" tIns="36576" rIns="36576" bIns="36576" anchor="t">
            <a:spAutoFit/>
          </a:bodyPr>
          <a:lstStyle/>
          <a:p>
            <a:pPr>
              <a:spcAft>
                <a:spcPts val="0"/>
              </a:spcAft>
            </a:pPr>
            <a:r>
              <a:rPr sz="2300" b="1" dirty="0">
                <a:solidFill>
                  <a:srgbClr val="C24B48"/>
                </a:solidFill>
                <a:latin typeface="Aptos"/>
              </a:rPr>
              <a:t>25.66%</a:t>
            </a:r>
          </a:p>
        </p:txBody>
      </p:sp>
      <p:sp>
        <p:nvSpPr>
          <p:cNvPr id="14" name="TextBox 13"/>
          <p:cNvSpPr txBox="1"/>
          <p:nvPr/>
        </p:nvSpPr>
        <p:spPr>
          <a:xfrm>
            <a:off x="3447288" y="1946817"/>
            <a:ext cx="214884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observed early-readmission rate</a:t>
            </a:r>
          </a:p>
        </p:txBody>
      </p:sp>
      <p:sp>
        <p:nvSpPr>
          <p:cNvPr id="15" name="Rounded Rectangle 14"/>
          <p:cNvSpPr/>
          <p:nvPr/>
        </p:nvSpPr>
        <p:spPr>
          <a:xfrm>
            <a:off x="5870448" y="1361601"/>
            <a:ext cx="2468880" cy="1188720"/>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70448" y="1361601"/>
            <a:ext cx="73152" cy="1188720"/>
          </a:xfrm>
          <a:prstGeom prst="rect">
            <a:avLst/>
          </a:prstGeom>
          <a:solidFill>
            <a:srgbClr val="2A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71616" y="1507905"/>
            <a:ext cx="2148840" cy="411480"/>
          </a:xfrm>
          <a:prstGeom prst="rect">
            <a:avLst/>
          </a:prstGeom>
          <a:noFill/>
        </p:spPr>
        <p:txBody>
          <a:bodyPr wrap="square" lIns="36576" tIns="36576" rIns="36576" bIns="36576" anchor="t">
            <a:spAutoFit/>
          </a:bodyPr>
          <a:lstStyle/>
          <a:p>
            <a:pPr>
              <a:spcAft>
                <a:spcPts val="0"/>
              </a:spcAft>
            </a:pPr>
            <a:r>
              <a:rPr sz="2300" b="1">
                <a:solidFill>
                  <a:srgbClr val="2A67B2"/>
                </a:solidFill>
                <a:latin typeface="Aptos"/>
              </a:rPr>
              <a:t>1,809</a:t>
            </a:r>
          </a:p>
        </p:txBody>
      </p:sp>
      <p:sp>
        <p:nvSpPr>
          <p:cNvPr id="18" name="TextBox 17"/>
          <p:cNvSpPr txBox="1"/>
          <p:nvPr/>
        </p:nvSpPr>
        <p:spPr>
          <a:xfrm>
            <a:off x="6071616" y="1946817"/>
            <a:ext cx="214884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early readmissions in segment</a:t>
            </a:r>
          </a:p>
        </p:txBody>
      </p:sp>
      <p:sp>
        <p:nvSpPr>
          <p:cNvPr id="19" name="TextBox 18"/>
          <p:cNvSpPr txBox="1"/>
          <p:nvPr/>
        </p:nvSpPr>
        <p:spPr>
          <a:xfrm>
            <a:off x="6071616" y="2239425"/>
            <a:ext cx="2148840" cy="210312"/>
          </a:xfrm>
          <a:prstGeom prst="rect">
            <a:avLst/>
          </a:prstGeom>
          <a:noFill/>
        </p:spPr>
        <p:txBody>
          <a:bodyPr wrap="square" lIns="36576" tIns="36576" rIns="36576" bIns="36576" anchor="t">
            <a:spAutoFit/>
          </a:bodyPr>
          <a:lstStyle/>
          <a:p>
            <a:pPr>
              <a:spcAft>
                <a:spcPts val="0"/>
              </a:spcAft>
            </a:pPr>
            <a:r>
              <a:rPr sz="850" b="0">
                <a:solidFill>
                  <a:srgbClr val="647284"/>
                </a:solidFill>
                <a:latin typeface="Aptos"/>
              </a:rPr>
              <a:t>7,049 × 25.66% ≈ 1,809</a:t>
            </a:r>
          </a:p>
        </p:txBody>
      </p:sp>
      <p:sp>
        <p:nvSpPr>
          <p:cNvPr id="20" name="Rounded Rectangle 19"/>
          <p:cNvSpPr/>
          <p:nvPr/>
        </p:nvSpPr>
        <p:spPr>
          <a:xfrm>
            <a:off x="8494776" y="1361601"/>
            <a:ext cx="2743200" cy="1188720"/>
          </a:xfrm>
          <a:prstGeom prst="roundRect">
            <a:avLst/>
          </a:prstGeom>
          <a:solidFill>
            <a:srgbClr val="FFFFFF"/>
          </a:solidFill>
          <a:ln w="1016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494776" y="1361601"/>
            <a:ext cx="73152" cy="1188720"/>
          </a:xfrm>
          <a:prstGeom prst="rect">
            <a:avLst/>
          </a:prstGeom>
          <a:solidFill>
            <a:srgbClr val="E5A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95944" y="1507905"/>
            <a:ext cx="2423160" cy="411480"/>
          </a:xfrm>
          <a:prstGeom prst="rect">
            <a:avLst/>
          </a:prstGeom>
          <a:noFill/>
        </p:spPr>
        <p:txBody>
          <a:bodyPr wrap="square" lIns="36576" tIns="36576" rIns="36576" bIns="36576" anchor="t">
            <a:spAutoFit/>
          </a:bodyPr>
          <a:lstStyle/>
          <a:p>
            <a:pPr>
              <a:spcAft>
                <a:spcPts val="0"/>
              </a:spcAft>
            </a:pPr>
            <a:r>
              <a:rPr sz="2300" b="1">
                <a:solidFill>
                  <a:srgbClr val="E5A637"/>
                </a:solidFill>
                <a:latin typeface="Aptos"/>
              </a:rPr>
              <a:t>181</a:t>
            </a:r>
          </a:p>
        </p:txBody>
      </p:sp>
      <p:sp>
        <p:nvSpPr>
          <p:cNvPr id="23" name="TextBox 22"/>
          <p:cNvSpPr txBox="1"/>
          <p:nvPr/>
        </p:nvSpPr>
        <p:spPr>
          <a:xfrm>
            <a:off x="8695944" y="1946817"/>
            <a:ext cx="2423160" cy="329184"/>
          </a:xfrm>
          <a:prstGeom prst="rect">
            <a:avLst/>
          </a:prstGeom>
          <a:noFill/>
        </p:spPr>
        <p:txBody>
          <a:bodyPr wrap="square" lIns="36576" tIns="36576" rIns="36576" bIns="36576" anchor="t">
            <a:spAutoFit/>
          </a:bodyPr>
          <a:lstStyle/>
          <a:p>
            <a:pPr>
              <a:spcAft>
                <a:spcPts val="0"/>
              </a:spcAft>
            </a:pPr>
            <a:r>
              <a:rPr sz="1100" b="1">
                <a:solidFill>
                  <a:srgbClr val="283444"/>
                </a:solidFill>
                <a:latin typeface="Aptos"/>
              </a:rPr>
              <a:t>events avoided in example</a:t>
            </a:r>
          </a:p>
        </p:txBody>
      </p:sp>
      <p:sp>
        <p:nvSpPr>
          <p:cNvPr id="24" name="TextBox 23"/>
          <p:cNvSpPr txBox="1"/>
          <p:nvPr/>
        </p:nvSpPr>
        <p:spPr>
          <a:xfrm>
            <a:off x="8695944" y="2239425"/>
            <a:ext cx="2423160" cy="210312"/>
          </a:xfrm>
          <a:prstGeom prst="rect">
            <a:avLst/>
          </a:prstGeom>
          <a:noFill/>
        </p:spPr>
        <p:txBody>
          <a:bodyPr wrap="square" lIns="36576" tIns="36576" rIns="36576" bIns="36576" anchor="t">
            <a:spAutoFit/>
          </a:bodyPr>
          <a:lstStyle/>
          <a:p>
            <a:pPr>
              <a:spcAft>
                <a:spcPts val="0"/>
              </a:spcAft>
            </a:pPr>
            <a:r>
              <a:rPr sz="850" b="0">
                <a:solidFill>
                  <a:srgbClr val="647284"/>
                </a:solidFill>
                <a:latin typeface="Aptos"/>
              </a:rPr>
              <a:t>Assumes 10% relative reduction</a:t>
            </a:r>
          </a:p>
        </p:txBody>
      </p:sp>
      <p:sp>
        <p:nvSpPr>
          <p:cNvPr id="25" name="Rounded Rectangle 24"/>
          <p:cNvSpPr/>
          <p:nvPr/>
        </p:nvSpPr>
        <p:spPr>
          <a:xfrm>
            <a:off x="594360" y="2921685"/>
            <a:ext cx="5257800" cy="2240280"/>
          </a:xfrm>
          <a:prstGeom prst="roundRect">
            <a:avLst/>
          </a:prstGeom>
          <a:solidFill>
            <a:srgbClr val="FCF4E0"/>
          </a:solidFill>
          <a:ln w="10160">
            <a:solidFill>
              <a:srgbClr val="FCF4E0"/>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a:solidFill>
                  <a:srgbClr val="E5A637"/>
                </a:solidFill>
                <a:latin typeface="Aptos"/>
              </a:rPr>
              <a:t>ILLUSTRATIVE SCENARIO — NOT A FORECAST</a:t>
            </a:r>
          </a:p>
          <a:p>
            <a:pPr>
              <a:spcBef>
                <a:spcPts val="0"/>
              </a:spcBef>
              <a:spcAft>
                <a:spcPts val="500"/>
              </a:spcAft>
            </a:pPr>
            <a:r>
              <a:rPr sz="1300" b="1">
                <a:solidFill>
                  <a:srgbClr val="13233A"/>
                </a:solidFill>
                <a:latin typeface="Aptos"/>
              </a:rPr>
              <a:t>Assume the intervention reduces early readmissions by 10% relative in the 3+ cohort.</a:t>
            </a:r>
          </a:p>
          <a:p>
            <a:pPr>
              <a:spcBef>
                <a:spcPts val="0"/>
              </a:spcBef>
              <a:spcAft>
                <a:spcPts val="500"/>
              </a:spcAft>
            </a:pPr>
            <a:r>
              <a:rPr sz="1500" b="1">
                <a:solidFill>
                  <a:srgbClr val="283444"/>
                </a:solidFill>
                <a:latin typeface="Aptos"/>
              </a:rPr>
              <a:t>Avoided events ≈ 1,809 × 10% = 181</a:t>
            </a:r>
          </a:p>
          <a:p>
            <a:pPr>
              <a:spcBef>
                <a:spcPts val="0"/>
              </a:spcBef>
              <a:spcAft>
                <a:spcPts val="200"/>
              </a:spcAft>
            </a:pPr>
            <a:r>
              <a:rPr sz="1200" b="0">
                <a:solidFill>
                  <a:srgbClr val="283444"/>
                </a:solidFill>
                <a:latin typeface="Aptos"/>
              </a:rPr>
              <a:t>Value = avoided readmissions × avoidable cost per readmission</a:t>
            </a:r>
          </a:p>
          <a:p>
            <a:pPr>
              <a:spcBef>
                <a:spcPts val="0"/>
              </a:spcBef>
              <a:spcAft>
                <a:spcPts val="200"/>
              </a:spcAft>
            </a:pPr>
            <a:r>
              <a:rPr sz="1200" b="0">
                <a:solidFill>
                  <a:srgbClr val="283444"/>
                </a:solidFill>
                <a:latin typeface="Aptos"/>
              </a:rPr>
              <a:t>Net value = value − intervention cost</a:t>
            </a:r>
          </a:p>
        </p:txBody>
      </p:sp>
      <p:sp>
        <p:nvSpPr>
          <p:cNvPr id="26" name="Rounded Rectangle 25"/>
          <p:cNvSpPr/>
          <p:nvPr/>
        </p:nvSpPr>
        <p:spPr>
          <a:xfrm>
            <a:off x="6117336" y="2921685"/>
            <a:ext cx="5120640" cy="2240280"/>
          </a:xfrm>
          <a:prstGeom prst="roundRect">
            <a:avLst/>
          </a:prstGeom>
          <a:solidFill>
            <a:srgbClr val="E6EFFA"/>
          </a:solidFill>
          <a:ln w="10160">
            <a:solidFill>
              <a:srgbClr val="E6EFFA"/>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a:solidFill>
                  <a:srgbClr val="2A67B2"/>
                </a:solidFill>
                <a:latin typeface="Aptos"/>
              </a:rPr>
              <a:t>BREAK-EVEN RULE</a:t>
            </a:r>
          </a:p>
          <a:p>
            <a:pPr>
              <a:spcBef>
                <a:spcPts val="0"/>
              </a:spcBef>
              <a:spcAft>
                <a:spcPts val="500"/>
              </a:spcAft>
            </a:pPr>
            <a:r>
              <a:rPr sz="1400" b="1">
                <a:solidFill>
                  <a:srgbClr val="13233A"/>
                </a:solidFill>
                <a:latin typeface="Aptos"/>
              </a:rPr>
              <a:t>Maximum total intervention budget = 181 × avoidable cost per readmission.</a:t>
            </a:r>
          </a:p>
          <a:p>
            <a:pPr>
              <a:spcBef>
                <a:spcPts val="0"/>
              </a:spcBef>
              <a:spcAft>
                <a:spcPts val="200"/>
              </a:spcAft>
            </a:pPr>
            <a:r>
              <a:rPr sz="1200" b="1">
                <a:solidFill>
                  <a:srgbClr val="283444"/>
                </a:solidFill>
                <a:latin typeface="Aptos"/>
              </a:rPr>
              <a:t>Per eligible encounter: break-even cost ≈ 2.566% × avoidable cost per readmission.</a:t>
            </a:r>
          </a:p>
          <a:p>
            <a:pPr>
              <a:spcBef>
                <a:spcPts val="0"/>
              </a:spcBef>
              <a:spcAft>
                <a:spcPts val="200"/>
              </a:spcAft>
            </a:pPr>
            <a:r>
              <a:rPr sz="1100" b="0">
                <a:solidFill>
                  <a:srgbClr val="647284"/>
                </a:solidFill>
                <a:latin typeface="Aptos"/>
              </a:rPr>
              <a:t>Example only: if finance validates $10,000 avoidable cost/event, break-even spend ≈ $1.81M total or $257 per eligible encounter.</a:t>
            </a:r>
          </a:p>
        </p:txBody>
      </p:sp>
      <p:sp>
        <p:nvSpPr>
          <p:cNvPr id="27" name="TextBox 26"/>
          <p:cNvSpPr txBox="1"/>
          <p:nvPr/>
        </p:nvSpPr>
        <p:spPr>
          <a:xfrm>
            <a:off x="713232" y="5696712"/>
            <a:ext cx="10789920" cy="438912"/>
          </a:xfrm>
          <a:prstGeom prst="rect">
            <a:avLst/>
          </a:prstGeom>
          <a:noFill/>
        </p:spPr>
        <p:txBody>
          <a:bodyPr wrap="square" lIns="36576" tIns="36576" rIns="36576" bIns="36576" anchor="t">
            <a:spAutoFit/>
          </a:bodyPr>
          <a:lstStyle/>
          <a:p>
            <a:pPr>
              <a:spcAft>
                <a:spcPts val="0"/>
              </a:spcAft>
            </a:pPr>
            <a:r>
              <a:rPr sz="1200" b="1">
                <a:solidFill>
                  <a:srgbClr val="C24B48"/>
                </a:solidFill>
                <a:latin typeface="Aptos"/>
              </a:rPr>
              <a:t>Before claiming ROI, obtain local cost data, intervention cost, reachable cohort size, and credible evidence of achievable reduction.</a:t>
            </a:r>
          </a:p>
        </p:txBody>
      </p:sp>
      <p:sp>
        <p:nvSpPr>
          <p:cNvPr id="29" name="TextBox 28"/>
          <p:cNvSpPr txBox="1"/>
          <p:nvPr/>
        </p:nvSpPr>
        <p:spPr>
          <a:xfrm>
            <a:off x="11064240" y="6537960"/>
            <a:ext cx="548640" cy="182880"/>
          </a:xfrm>
          <a:prstGeom prst="rect">
            <a:avLst/>
          </a:prstGeom>
          <a:noFill/>
        </p:spPr>
        <p:txBody>
          <a:bodyPr wrap="square" lIns="36576" tIns="36576" rIns="36576" bIns="36576" anchor="t">
            <a:spAutoFit/>
          </a:bodyPr>
          <a:lstStyle/>
          <a:p>
            <a:pPr algn="r">
              <a:spcAft>
                <a:spcPts val="0"/>
              </a:spcAft>
            </a:pPr>
            <a:r>
              <a:rPr sz="900" b="1">
                <a:solidFill>
                  <a:srgbClr val="647284"/>
                </a:solidFill>
                <a:latin typeface="Aptos"/>
              </a:rPr>
              <a:t>3 /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9164"/>
            <a:ext cx="11155680" cy="458587"/>
          </a:xfrm>
          <a:prstGeom prst="rect">
            <a:avLst/>
          </a:prstGeom>
          <a:noFill/>
        </p:spPr>
        <p:txBody>
          <a:bodyPr wrap="square" lIns="36576" tIns="36576" rIns="36576" bIns="36576" anchor="t">
            <a:spAutoFit/>
          </a:bodyPr>
          <a:lstStyle/>
          <a:p>
            <a:pPr>
              <a:spcAft>
                <a:spcPts val="0"/>
              </a:spcAft>
            </a:pPr>
            <a:r>
              <a:rPr sz="2500" b="1" dirty="0">
                <a:solidFill>
                  <a:srgbClr val="13233A"/>
                </a:solidFill>
                <a:latin typeface="Aptos"/>
              </a:rPr>
              <a:t>Build a claim ledger: evidence, confidence, and unknowns</a:t>
            </a:r>
            <a:r>
              <a:rPr lang="en-US" sz="2500" b="1" dirty="0">
                <a:solidFill>
                  <a:srgbClr val="13233A"/>
                </a:solidFill>
                <a:latin typeface="Aptos"/>
              </a:rPr>
              <a:t> : Step 5</a:t>
            </a:r>
            <a:endParaRPr sz="2500" b="1" dirty="0">
              <a:solidFill>
                <a:srgbClr val="13233A"/>
              </a:solidFill>
              <a:latin typeface="Aptos"/>
            </a:endParaRPr>
          </a:p>
        </p:txBody>
      </p:sp>
      <p:sp>
        <p:nvSpPr>
          <p:cNvPr id="5" name="TextBox 4"/>
          <p:cNvSpPr txBox="1"/>
          <p:nvPr/>
        </p:nvSpPr>
        <p:spPr>
          <a:xfrm>
            <a:off x="457200" y="811063"/>
            <a:ext cx="10972800" cy="329184"/>
          </a:xfrm>
          <a:prstGeom prst="rect">
            <a:avLst/>
          </a:prstGeom>
          <a:noFill/>
        </p:spPr>
        <p:txBody>
          <a:bodyPr wrap="square" lIns="36576" tIns="36576" rIns="36576" bIns="36576" anchor="t">
            <a:spAutoFit/>
          </a:bodyPr>
          <a:lstStyle/>
          <a:p>
            <a:pPr>
              <a:spcAft>
                <a:spcPts val="0"/>
              </a:spcAft>
            </a:pPr>
            <a:r>
              <a:rPr sz="1100" b="0" dirty="0">
                <a:solidFill>
                  <a:srgbClr val="647284"/>
                </a:solidFill>
                <a:latin typeface="Aptos"/>
              </a:rPr>
              <a:t>Every claim should be traceable to a calculation, with assumptions and validation gaps made explicit.</a:t>
            </a:r>
          </a:p>
        </p:txBody>
      </p:sp>
      <p:sp>
        <p:nvSpPr>
          <p:cNvPr id="6" name="Rectangle 5"/>
          <p:cNvSpPr/>
          <p:nvPr/>
        </p:nvSpPr>
        <p:spPr>
          <a:xfrm>
            <a:off x="502920" y="1235354"/>
            <a:ext cx="11155680" cy="16459"/>
          </a:xfrm>
          <a:prstGeom prst="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664208"/>
            <a:ext cx="2606040" cy="384048"/>
          </a:xfrm>
          <a:prstGeom prst="roundRect">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746504"/>
            <a:ext cx="2459736" cy="182880"/>
          </a:xfrm>
          <a:prstGeom prst="rect">
            <a:avLst/>
          </a:prstGeom>
          <a:noFill/>
        </p:spPr>
        <p:txBody>
          <a:bodyPr wrap="square" lIns="36576" tIns="36576" rIns="36576" bIns="36576" anchor="t">
            <a:spAutoFit/>
          </a:bodyPr>
          <a:lstStyle/>
          <a:p>
            <a:pPr>
              <a:spcAft>
                <a:spcPts val="0"/>
              </a:spcAft>
            </a:pPr>
            <a:r>
              <a:rPr sz="900" b="1">
                <a:solidFill>
                  <a:srgbClr val="FFFFFF"/>
                </a:solidFill>
                <a:latin typeface="Aptos"/>
              </a:rPr>
              <a:t>CLAIM</a:t>
            </a:r>
          </a:p>
        </p:txBody>
      </p:sp>
      <p:sp>
        <p:nvSpPr>
          <p:cNvPr id="9" name="Rounded Rectangle 8"/>
          <p:cNvSpPr/>
          <p:nvPr/>
        </p:nvSpPr>
        <p:spPr>
          <a:xfrm>
            <a:off x="3429000" y="1664208"/>
            <a:ext cx="2743200" cy="384048"/>
          </a:xfrm>
          <a:prstGeom prst="roundRect">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02152" y="1746504"/>
            <a:ext cx="2596896" cy="182880"/>
          </a:xfrm>
          <a:prstGeom prst="rect">
            <a:avLst/>
          </a:prstGeom>
          <a:noFill/>
        </p:spPr>
        <p:txBody>
          <a:bodyPr wrap="square" lIns="36576" tIns="36576" rIns="36576" bIns="36576" anchor="t">
            <a:spAutoFit/>
          </a:bodyPr>
          <a:lstStyle/>
          <a:p>
            <a:pPr>
              <a:spcAft>
                <a:spcPts val="0"/>
              </a:spcAft>
            </a:pPr>
            <a:r>
              <a:rPr sz="900" b="1">
                <a:solidFill>
                  <a:srgbClr val="FFFFFF"/>
                </a:solidFill>
                <a:latin typeface="Aptos"/>
              </a:rPr>
              <a:t>EVIDENCE / CALCULATION</a:t>
            </a:r>
          </a:p>
        </p:txBody>
      </p:sp>
      <p:sp>
        <p:nvSpPr>
          <p:cNvPr id="11" name="Rounded Rectangle 10"/>
          <p:cNvSpPr/>
          <p:nvPr/>
        </p:nvSpPr>
        <p:spPr>
          <a:xfrm>
            <a:off x="6400800" y="1664208"/>
            <a:ext cx="2514600" cy="384048"/>
          </a:xfrm>
          <a:prstGeom prst="roundRect">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1746504"/>
            <a:ext cx="2368296" cy="182880"/>
          </a:xfrm>
          <a:prstGeom prst="rect">
            <a:avLst/>
          </a:prstGeom>
          <a:noFill/>
        </p:spPr>
        <p:txBody>
          <a:bodyPr wrap="square" lIns="36576" tIns="36576" rIns="36576" bIns="36576" anchor="t">
            <a:spAutoFit/>
          </a:bodyPr>
          <a:lstStyle/>
          <a:p>
            <a:pPr>
              <a:spcAft>
                <a:spcPts val="0"/>
              </a:spcAft>
            </a:pPr>
            <a:r>
              <a:rPr sz="900" b="1">
                <a:solidFill>
                  <a:srgbClr val="FFFFFF"/>
                </a:solidFill>
                <a:latin typeface="Aptos"/>
              </a:rPr>
              <a:t>STATUS</a:t>
            </a:r>
          </a:p>
        </p:txBody>
      </p:sp>
      <p:sp>
        <p:nvSpPr>
          <p:cNvPr id="13" name="Rounded Rectangle 12"/>
          <p:cNvSpPr/>
          <p:nvPr/>
        </p:nvSpPr>
        <p:spPr>
          <a:xfrm>
            <a:off x="9098280" y="1664208"/>
            <a:ext cx="2148840" cy="384048"/>
          </a:xfrm>
          <a:prstGeom prst="roundRect">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71432" y="1746504"/>
            <a:ext cx="2002536" cy="182880"/>
          </a:xfrm>
          <a:prstGeom prst="rect">
            <a:avLst/>
          </a:prstGeom>
          <a:noFill/>
        </p:spPr>
        <p:txBody>
          <a:bodyPr wrap="square" lIns="36576" tIns="36576" rIns="36576" bIns="36576" anchor="t">
            <a:spAutoFit/>
          </a:bodyPr>
          <a:lstStyle/>
          <a:p>
            <a:pPr>
              <a:spcAft>
                <a:spcPts val="0"/>
              </a:spcAft>
            </a:pPr>
            <a:r>
              <a:rPr sz="900" b="1">
                <a:solidFill>
                  <a:srgbClr val="FFFFFF"/>
                </a:solidFill>
                <a:latin typeface="Aptos"/>
              </a:rPr>
              <a:t>UNKNOWN / RISK</a:t>
            </a:r>
          </a:p>
        </p:txBody>
      </p:sp>
      <p:sp>
        <p:nvSpPr>
          <p:cNvPr id="15" name="Rectangle 14"/>
          <p:cNvSpPr/>
          <p:nvPr/>
        </p:nvSpPr>
        <p:spPr>
          <a:xfrm>
            <a:off x="621792" y="2139696"/>
            <a:ext cx="260604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2212848"/>
            <a:ext cx="2459736" cy="512064"/>
          </a:xfrm>
          <a:prstGeom prst="rect">
            <a:avLst/>
          </a:prstGeom>
          <a:noFill/>
        </p:spPr>
        <p:txBody>
          <a:bodyPr wrap="square" lIns="36576" tIns="36576" rIns="36576" bIns="36576" anchor="t">
            <a:spAutoFit/>
          </a:bodyPr>
          <a:lstStyle/>
          <a:p>
            <a:pPr>
              <a:spcAft>
                <a:spcPts val="0"/>
              </a:spcAft>
            </a:pPr>
            <a:r>
              <a:rPr sz="950" b="1">
                <a:solidFill>
                  <a:srgbClr val="283444"/>
                </a:solidFill>
                <a:latin typeface="Aptos"/>
              </a:rPr>
              <a:t>Prior inpatient use is a risk signal</a:t>
            </a:r>
          </a:p>
        </p:txBody>
      </p:sp>
      <p:sp>
        <p:nvSpPr>
          <p:cNvPr id="17" name="Rectangle 16"/>
          <p:cNvSpPr/>
          <p:nvPr/>
        </p:nvSpPr>
        <p:spPr>
          <a:xfrm>
            <a:off x="3429000" y="2139696"/>
            <a:ext cx="274320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02152" y="2212848"/>
            <a:ext cx="259689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25.66% vs 8.44%; gap 17.22 pp</a:t>
            </a:r>
          </a:p>
        </p:txBody>
      </p:sp>
      <p:sp>
        <p:nvSpPr>
          <p:cNvPr id="19" name="Rectangle 18"/>
          <p:cNvSpPr/>
          <p:nvPr/>
        </p:nvSpPr>
        <p:spPr>
          <a:xfrm>
            <a:off x="6400800" y="2139696"/>
            <a:ext cx="251460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2" y="2212848"/>
            <a:ext cx="2368296" cy="512064"/>
          </a:xfrm>
          <a:prstGeom prst="rect">
            <a:avLst/>
          </a:prstGeom>
          <a:noFill/>
        </p:spPr>
        <p:txBody>
          <a:bodyPr wrap="square" lIns="36576" tIns="36576" rIns="36576" bIns="36576" anchor="t">
            <a:spAutoFit/>
          </a:bodyPr>
          <a:lstStyle/>
          <a:p>
            <a:pPr>
              <a:spcAft>
                <a:spcPts val="0"/>
              </a:spcAft>
            </a:pPr>
            <a:r>
              <a:rPr sz="950" b="1">
                <a:solidFill>
                  <a:srgbClr val="1B8F85"/>
                </a:solidFill>
                <a:latin typeface="Aptos"/>
              </a:rPr>
              <a:t>OBSERVED</a:t>
            </a:r>
          </a:p>
        </p:txBody>
      </p:sp>
      <p:sp>
        <p:nvSpPr>
          <p:cNvPr id="21" name="Rectangle 20"/>
          <p:cNvSpPr/>
          <p:nvPr/>
        </p:nvSpPr>
        <p:spPr>
          <a:xfrm>
            <a:off x="9098280" y="2139696"/>
            <a:ext cx="214884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71432" y="2212848"/>
            <a:ext cx="200253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Confounding; needs adjusted model</a:t>
            </a:r>
          </a:p>
        </p:txBody>
      </p:sp>
      <p:sp>
        <p:nvSpPr>
          <p:cNvPr id="23" name="Rectangle 22"/>
          <p:cNvSpPr/>
          <p:nvPr/>
        </p:nvSpPr>
        <p:spPr>
          <a:xfrm>
            <a:off x="621792" y="2862072"/>
            <a:ext cx="260604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 y="2935224"/>
            <a:ext cx="2459736" cy="512064"/>
          </a:xfrm>
          <a:prstGeom prst="rect">
            <a:avLst/>
          </a:prstGeom>
          <a:noFill/>
        </p:spPr>
        <p:txBody>
          <a:bodyPr wrap="square" lIns="36576" tIns="36576" rIns="36576" bIns="36576" anchor="t">
            <a:spAutoFit/>
          </a:bodyPr>
          <a:lstStyle/>
          <a:p>
            <a:pPr>
              <a:spcAft>
                <a:spcPts val="0"/>
              </a:spcAft>
            </a:pPr>
            <a:r>
              <a:rPr sz="950" b="1">
                <a:solidFill>
                  <a:srgbClr val="283444"/>
                </a:solidFill>
                <a:latin typeface="Aptos"/>
              </a:rPr>
              <a:t>High-use cohort is actionable</a:t>
            </a:r>
          </a:p>
        </p:txBody>
      </p:sp>
      <p:sp>
        <p:nvSpPr>
          <p:cNvPr id="25" name="Rectangle 24"/>
          <p:cNvSpPr/>
          <p:nvPr/>
        </p:nvSpPr>
        <p:spPr>
          <a:xfrm>
            <a:off x="3429000" y="2862072"/>
            <a:ext cx="274320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02152" y="2935224"/>
            <a:ext cx="259689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7,049 encounters; 1,809 early readmissions</a:t>
            </a:r>
          </a:p>
        </p:txBody>
      </p:sp>
      <p:sp>
        <p:nvSpPr>
          <p:cNvPr id="27" name="Rectangle 26"/>
          <p:cNvSpPr/>
          <p:nvPr/>
        </p:nvSpPr>
        <p:spPr>
          <a:xfrm>
            <a:off x="6400800" y="2862072"/>
            <a:ext cx="251460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3952" y="2935224"/>
            <a:ext cx="2368296" cy="512064"/>
          </a:xfrm>
          <a:prstGeom prst="rect">
            <a:avLst/>
          </a:prstGeom>
          <a:noFill/>
        </p:spPr>
        <p:txBody>
          <a:bodyPr wrap="square" lIns="36576" tIns="36576" rIns="36576" bIns="36576" anchor="t">
            <a:spAutoFit/>
          </a:bodyPr>
          <a:lstStyle/>
          <a:p>
            <a:pPr>
              <a:spcAft>
                <a:spcPts val="0"/>
              </a:spcAft>
            </a:pPr>
            <a:r>
              <a:rPr sz="950" b="1">
                <a:solidFill>
                  <a:srgbClr val="283444"/>
                </a:solidFill>
                <a:latin typeface="Aptos"/>
              </a:rPr>
              <a:t>CANDIDATE</a:t>
            </a:r>
          </a:p>
        </p:txBody>
      </p:sp>
      <p:sp>
        <p:nvSpPr>
          <p:cNvPr id="29" name="Rectangle 28"/>
          <p:cNvSpPr/>
          <p:nvPr/>
        </p:nvSpPr>
        <p:spPr>
          <a:xfrm>
            <a:off x="9098280" y="2862072"/>
            <a:ext cx="214884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71432" y="2935224"/>
            <a:ext cx="200253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Can the care team reach them?</a:t>
            </a:r>
          </a:p>
        </p:txBody>
      </p:sp>
      <p:sp>
        <p:nvSpPr>
          <p:cNvPr id="31" name="Rectangle 30"/>
          <p:cNvSpPr/>
          <p:nvPr/>
        </p:nvSpPr>
        <p:spPr>
          <a:xfrm>
            <a:off x="621792" y="3584448"/>
            <a:ext cx="260604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944" y="3657600"/>
            <a:ext cx="2459736" cy="512064"/>
          </a:xfrm>
          <a:prstGeom prst="rect">
            <a:avLst/>
          </a:prstGeom>
          <a:noFill/>
        </p:spPr>
        <p:txBody>
          <a:bodyPr wrap="square" lIns="36576" tIns="36576" rIns="36576" bIns="36576" anchor="t">
            <a:spAutoFit/>
          </a:bodyPr>
          <a:lstStyle/>
          <a:p>
            <a:pPr>
              <a:spcAft>
                <a:spcPts val="0"/>
              </a:spcAft>
            </a:pPr>
            <a:r>
              <a:rPr sz="950" b="1">
                <a:solidFill>
                  <a:srgbClr val="283444"/>
                </a:solidFill>
                <a:latin typeface="Aptos"/>
              </a:rPr>
              <a:t>Intervention can save money</a:t>
            </a:r>
          </a:p>
        </p:txBody>
      </p:sp>
      <p:sp>
        <p:nvSpPr>
          <p:cNvPr id="33" name="Rectangle 32"/>
          <p:cNvSpPr/>
          <p:nvPr/>
        </p:nvSpPr>
        <p:spPr>
          <a:xfrm>
            <a:off x="3429000" y="3584448"/>
            <a:ext cx="274320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02152" y="3657600"/>
            <a:ext cx="259689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Scenario: 10% relative reduction → ~181 avoided</a:t>
            </a:r>
          </a:p>
        </p:txBody>
      </p:sp>
      <p:sp>
        <p:nvSpPr>
          <p:cNvPr id="35" name="Rectangle 34"/>
          <p:cNvSpPr/>
          <p:nvPr/>
        </p:nvSpPr>
        <p:spPr>
          <a:xfrm>
            <a:off x="6400800" y="3584448"/>
            <a:ext cx="251460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73952" y="3657600"/>
            <a:ext cx="2368296" cy="512064"/>
          </a:xfrm>
          <a:prstGeom prst="rect">
            <a:avLst/>
          </a:prstGeom>
          <a:noFill/>
        </p:spPr>
        <p:txBody>
          <a:bodyPr wrap="square" lIns="36576" tIns="36576" rIns="36576" bIns="36576" anchor="t">
            <a:spAutoFit/>
          </a:bodyPr>
          <a:lstStyle/>
          <a:p>
            <a:pPr>
              <a:spcAft>
                <a:spcPts val="0"/>
              </a:spcAft>
            </a:pPr>
            <a:r>
              <a:rPr sz="950" b="1">
                <a:solidFill>
                  <a:srgbClr val="E5A637"/>
                </a:solidFill>
                <a:latin typeface="Aptos"/>
              </a:rPr>
              <a:t>ASSUMPTION</a:t>
            </a:r>
          </a:p>
        </p:txBody>
      </p:sp>
      <p:sp>
        <p:nvSpPr>
          <p:cNvPr id="37" name="Rectangle 36"/>
          <p:cNvSpPr/>
          <p:nvPr/>
        </p:nvSpPr>
        <p:spPr>
          <a:xfrm>
            <a:off x="9098280" y="3584448"/>
            <a:ext cx="2148840" cy="658368"/>
          </a:xfrm>
          <a:prstGeom prst="rect">
            <a:avLst/>
          </a:prstGeom>
          <a:solidFill>
            <a:srgbClr val="FFFFFF"/>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71432" y="3657600"/>
            <a:ext cx="200253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Effect and event cost unknown</a:t>
            </a:r>
          </a:p>
        </p:txBody>
      </p:sp>
      <p:sp>
        <p:nvSpPr>
          <p:cNvPr id="39" name="Rectangle 38"/>
          <p:cNvSpPr/>
          <p:nvPr/>
        </p:nvSpPr>
        <p:spPr>
          <a:xfrm>
            <a:off x="621792" y="4306824"/>
            <a:ext cx="260604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 y="4379976"/>
            <a:ext cx="2459736" cy="512064"/>
          </a:xfrm>
          <a:prstGeom prst="rect">
            <a:avLst/>
          </a:prstGeom>
          <a:noFill/>
        </p:spPr>
        <p:txBody>
          <a:bodyPr wrap="square" lIns="36576" tIns="36576" rIns="36576" bIns="36576" anchor="t">
            <a:spAutoFit/>
          </a:bodyPr>
          <a:lstStyle/>
          <a:p>
            <a:pPr>
              <a:spcAft>
                <a:spcPts val="0"/>
              </a:spcAft>
            </a:pPr>
            <a:r>
              <a:rPr sz="950" b="1">
                <a:solidFill>
                  <a:srgbClr val="283444"/>
                </a:solidFill>
                <a:latin typeface="Aptos"/>
              </a:rPr>
              <a:t>Lab fields can refine risk</a:t>
            </a:r>
          </a:p>
        </p:txBody>
      </p:sp>
      <p:sp>
        <p:nvSpPr>
          <p:cNvPr id="41" name="Rectangle 40"/>
          <p:cNvSpPr/>
          <p:nvPr/>
        </p:nvSpPr>
        <p:spPr>
          <a:xfrm>
            <a:off x="3429000" y="4306824"/>
            <a:ext cx="274320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02152" y="4379976"/>
            <a:ext cx="259689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Weight 96.86%; glucose 94.75%; A1c 83.28% missing</a:t>
            </a:r>
          </a:p>
        </p:txBody>
      </p:sp>
      <p:sp>
        <p:nvSpPr>
          <p:cNvPr id="43" name="Rectangle 42"/>
          <p:cNvSpPr/>
          <p:nvPr/>
        </p:nvSpPr>
        <p:spPr>
          <a:xfrm>
            <a:off x="6400800" y="4306824"/>
            <a:ext cx="251460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73952" y="4379976"/>
            <a:ext cx="2368296" cy="512064"/>
          </a:xfrm>
          <a:prstGeom prst="rect">
            <a:avLst/>
          </a:prstGeom>
          <a:noFill/>
        </p:spPr>
        <p:txBody>
          <a:bodyPr wrap="square" lIns="36576" tIns="36576" rIns="36576" bIns="36576" anchor="t">
            <a:spAutoFit/>
          </a:bodyPr>
          <a:lstStyle/>
          <a:p>
            <a:pPr>
              <a:spcAft>
                <a:spcPts val="0"/>
              </a:spcAft>
            </a:pPr>
            <a:r>
              <a:rPr sz="950" b="1">
                <a:solidFill>
                  <a:srgbClr val="C24B48"/>
                </a:solidFill>
                <a:latin typeface="Aptos"/>
              </a:rPr>
              <a:t>LIMITED</a:t>
            </a:r>
          </a:p>
        </p:txBody>
      </p:sp>
      <p:sp>
        <p:nvSpPr>
          <p:cNvPr id="45" name="Rectangle 44"/>
          <p:cNvSpPr/>
          <p:nvPr/>
        </p:nvSpPr>
        <p:spPr>
          <a:xfrm>
            <a:off x="9098280" y="4306824"/>
            <a:ext cx="2148840" cy="658368"/>
          </a:xfrm>
          <a:prstGeom prst="rect">
            <a:avLst/>
          </a:prstGeom>
          <a:solidFill>
            <a:srgbClr val="F1F4F8"/>
          </a:solidFill>
          <a:ln w="5080">
            <a:solidFill>
              <a:srgbClr val="DE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71432" y="4379976"/>
            <a:ext cx="2002536" cy="512064"/>
          </a:xfrm>
          <a:prstGeom prst="rect">
            <a:avLst/>
          </a:prstGeom>
          <a:noFill/>
        </p:spPr>
        <p:txBody>
          <a:bodyPr wrap="square" lIns="36576" tIns="36576" rIns="36576" bIns="36576" anchor="t">
            <a:spAutoFit/>
          </a:bodyPr>
          <a:lstStyle/>
          <a:p>
            <a:pPr>
              <a:spcAft>
                <a:spcPts val="0"/>
              </a:spcAft>
            </a:pPr>
            <a:r>
              <a:rPr sz="950" b="0">
                <a:solidFill>
                  <a:srgbClr val="283444"/>
                </a:solidFill>
                <a:latin typeface="Aptos"/>
              </a:rPr>
              <a:t>Missingness may bias results</a:t>
            </a:r>
          </a:p>
        </p:txBody>
      </p:sp>
      <p:sp>
        <p:nvSpPr>
          <p:cNvPr id="47" name="Rounded Rectangle 46"/>
          <p:cNvSpPr/>
          <p:nvPr/>
        </p:nvSpPr>
        <p:spPr>
          <a:xfrm>
            <a:off x="621792" y="5193792"/>
            <a:ext cx="10625328" cy="841248"/>
          </a:xfrm>
          <a:prstGeom prst="roundRect">
            <a:avLst/>
          </a:prstGeom>
          <a:solidFill>
            <a:srgbClr val="FAE8E7"/>
          </a:solidFill>
          <a:ln w="10160">
            <a:solidFill>
              <a:srgbClr val="FAE8E7"/>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000" b="1">
                <a:solidFill>
                  <a:srgbClr val="C24B48"/>
                </a:solidFill>
                <a:latin typeface="Aptos"/>
              </a:rPr>
              <a:t>DATA LIMITATION TO SAY OUT LOUD</a:t>
            </a:r>
          </a:p>
          <a:p>
            <a:pPr>
              <a:spcBef>
                <a:spcPts val="0"/>
              </a:spcBef>
              <a:spcAft>
                <a:spcPts val="200"/>
              </a:spcAft>
            </a:pPr>
            <a:r>
              <a:rPr sz="1100" b="0">
                <a:solidFill>
                  <a:srgbClr val="13233A"/>
                </a:solidFill>
                <a:latin typeface="Aptos"/>
              </a:rPr>
              <a:t>Repeated encounters exist (101,766 rows / 71,518 patients). Use patient-level splits in validation; results are descriptive and cannot establish causation.</a:t>
            </a:r>
          </a:p>
        </p:txBody>
      </p:sp>
      <p:sp>
        <p:nvSpPr>
          <p:cNvPr id="49" name="TextBox 48"/>
          <p:cNvSpPr txBox="1"/>
          <p:nvPr/>
        </p:nvSpPr>
        <p:spPr>
          <a:xfrm>
            <a:off x="11064240" y="6537960"/>
            <a:ext cx="548640" cy="182880"/>
          </a:xfrm>
          <a:prstGeom prst="rect">
            <a:avLst/>
          </a:prstGeom>
          <a:noFill/>
        </p:spPr>
        <p:txBody>
          <a:bodyPr wrap="square" lIns="36576" tIns="36576" rIns="36576" bIns="36576" anchor="t">
            <a:spAutoFit/>
          </a:bodyPr>
          <a:lstStyle/>
          <a:p>
            <a:pPr algn="r">
              <a:spcAft>
                <a:spcPts val="0"/>
              </a:spcAft>
            </a:pPr>
            <a:r>
              <a:rPr sz="900" b="1">
                <a:solidFill>
                  <a:srgbClr val="647284"/>
                </a:solidFill>
                <a:latin typeface="Aptos"/>
              </a:rPr>
              <a:t>4 /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808" y="-13716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457200" y="118872"/>
            <a:ext cx="11155680" cy="458587"/>
          </a:xfrm>
          <a:prstGeom prst="rect">
            <a:avLst/>
          </a:prstGeom>
          <a:noFill/>
        </p:spPr>
        <p:txBody>
          <a:bodyPr wrap="square" lIns="36576" tIns="36576" rIns="36576" bIns="36576" anchor="t">
            <a:spAutoFit/>
          </a:bodyPr>
          <a:lstStyle/>
          <a:p>
            <a:pPr>
              <a:spcAft>
                <a:spcPts val="0"/>
              </a:spcAft>
            </a:pPr>
            <a:r>
              <a:rPr sz="2500" b="1" dirty="0">
                <a:solidFill>
                  <a:srgbClr val="13233A"/>
                </a:solidFill>
                <a:latin typeface="Aptos"/>
              </a:rPr>
              <a:t>Decide: pilot a targeted intervention, then validate before scaling</a:t>
            </a:r>
            <a:r>
              <a:rPr lang="en-US" sz="2500" b="1" dirty="0">
                <a:solidFill>
                  <a:srgbClr val="13233A"/>
                </a:solidFill>
                <a:latin typeface="Aptos"/>
              </a:rPr>
              <a:t> : Step 6</a:t>
            </a:r>
            <a:endParaRPr sz="2500" b="1" dirty="0">
              <a:solidFill>
                <a:srgbClr val="13233A"/>
              </a:solidFill>
              <a:latin typeface="Aptos"/>
            </a:endParaRPr>
          </a:p>
        </p:txBody>
      </p:sp>
      <p:sp>
        <p:nvSpPr>
          <p:cNvPr id="5" name="TextBox 4"/>
          <p:cNvSpPr txBox="1"/>
          <p:nvPr/>
        </p:nvSpPr>
        <p:spPr>
          <a:xfrm>
            <a:off x="548640" y="685800"/>
            <a:ext cx="10972800" cy="329184"/>
          </a:xfrm>
          <a:prstGeom prst="rect">
            <a:avLst/>
          </a:prstGeom>
          <a:noFill/>
        </p:spPr>
        <p:txBody>
          <a:bodyPr wrap="square" lIns="36576" tIns="36576" rIns="36576" bIns="36576" anchor="t">
            <a:spAutoFit/>
          </a:bodyPr>
          <a:lstStyle/>
          <a:p>
            <a:pPr>
              <a:spcAft>
                <a:spcPts val="0"/>
              </a:spcAft>
            </a:pPr>
            <a:r>
              <a:rPr sz="1100" b="0" dirty="0">
                <a:solidFill>
                  <a:srgbClr val="647284"/>
                </a:solidFill>
                <a:latin typeface="Aptos"/>
              </a:rPr>
              <a:t>Recommendation is a low-risk test—not a claim that readmissions will definitely fall.</a:t>
            </a:r>
          </a:p>
        </p:txBody>
      </p:sp>
      <p:sp>
        <p:nvSpPr>
          <p:cNvPr id="6" name="Rectangle 5"/>
          <p:cNvSpPr/>
          <p:nvPr/>
        </p:nvSpPr>
        <p:spPr>
          <a:xfrm>
            <a:off x="518160" y="991780"/>
            <a:ext cx="11155680" cy="16459"/>
          </a:xfrm>
          <a:prstGeom prst="rect">
            <a:avLst/>
          </a:prstGeom>
          <a:solidFill>
            <a:srgbClr val="DE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298447"/>
            <a:ext cx="5074920" cy="1828800"/>
          </a:xfrm>
          <a:prstGeom prst="roundRect">
            <a:avLst/>
          </a:prstGeom>
          <a:solidFill>
            <a:srgbClr val="E2F4F1"/>
          </a:solidFill>
          <a:ln w="10160">
            <a:solidFill>
              <a:srgbClr val="E2F4F1"/>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dirty="0">
                <a:solidFill>
                  <a:srgbClr val="1B8F85"/>
                </a:solidFill>
                <a:latin typeface="Aptos"/>
              </a:rPr>
              <a:t>RECOMMENDATION</a:t>
            </a:r>
          </a:p>
          <a:p>
            <a:pPr>
              <a:spcBef>
                <a:spcPts val="0"/>
              </a:spcBef>
              <a:spcAft>
                <a:spcPts val="500"/>
              </a:spcAft>
            </a:pPr>
            <a:r>
              <a:rPr sz="1700" b="1" dirty="0">
                <a:solidFill>
                  <a:srgbClr val="13233A"/>
                </a:solidFill>
                <a:latin typeface="Aptos"/>
              </a:rPr>
              <a:t>Run a controlled pilot for encounters with 3+ prior inpatient visits.</a:t>
            </a:r>
          </a:p>
          <a:p>
            <a:pPr>
              <a:spcBef>
                <a:spcPts val="0"/>
              </a:spcBef>
              <a:spcAft>
                <a:spcPts val="200"/>
              </a:spcAft>
            </a:pPr>
            <a:r>
              <a:rPr sz="1200" b="0" dirty="0">
                <a:solidFill>
                  <a:srgbClr val="283444"/>
                </a:solidFill>
                <a:latin typeface="Aptos"/>
              </a:rPr>
              <a:t>Intervention: discharge checklist + medication reconciliation + follow-up scheduling / outreach within 7 days, subject to clinical approval.</a:t>
            </a:r>
          </a:p>
          <a:p>
            <a:pPr>
              <a:spcBef>
                <a:spcPts val="0"/>
              </a:spcBef>
              <a:spcAft>
                <a:spcPts val="200"/>
              </a:spcAft>
            </a:pPr>
            <a:r>
              <a:rPr sz="1000" b="0" dirty="0">
                <a:solidFill>
                  <a:srgbClr val="647284"/>
                </a:solidFill>
                <a:latin typeface="Aptos"/>
              </a:rPr>
              <a:t>Compare with usual care; do not deny standard care to any patient.</a:t>
            </a:r>
          </a:p>
        </p:txBody>
      </p:sp>
      <p:sp>
        <p:nvSpPr>
          <p:cNvPr id="8" name="Rounded Rectangle 7"/>
          <p:cNvSpPr/>
          <p:nvPr/>
        </p:nvSpPr>
        <p:spPr>
          <a:xfrm>
            <a:off x="5989320" y="1298447"/>
            <a:ext cx="5285232" cy="1828800"/>
          </a:xfrm>
          <a:prstGeom prst="roundRect">
            <a:avLst/>
          </a:prstGeom>
          <a:solidFill>
            <a:srgbClr val="E6EFFA"/>
          </a:solidFill>
          <a:ln w="10160">
            <a:solidFill>
              <a:srgbClr val="E6EFFA"/>
            </a:solidFill>
          </a:ln>
        </p:spPr>
        <p:style>
          <a:lnRef idx="1">
            <a:schemeClr val="accent1"/>
          </a:lnRef>
          <a:fillRef idx="3">
            <a:schemeClr val="accent1"/>
          </a:fillRef>
          <a:effectRef idx="2">
            <a:schemeClr val="accent1"/>
          </a:effectRef>
          <a:fontRef idx="minor">
            <a:schemeClr val="lt1"/>
          </a:fontRef>
        </p:style>
        <p:txBody>
          <a:bodyPr wrap="square" lIns="146304" tIns="146304" rIns="146304" bIns="146304" rtlCol="0" anchor="ctr"/>
          <a:lstStyle/>
          <a:p>
            <a:pPr algn="ctr">
              <a:spcBef>
                <a:spcPts val="0"/>
              </a:spcBef>
              <a:spcAft>
                <a:spcPts val="200"/>
              </a:spcAft>
            </a:pPr>
            <a:r>
              <a:rPr sz="1100" b="1">
                <a:solidFill>
                  <a:srgbClr val="2A67B2"/>
                </a:solidFill>
                <a:latin typeface="Aptos"/>
              </a:rPr>
              <a:t>BUSINESS VALUE TEST</a:t>
            </a:r>
          </a:p>
          <a:p>
            <a:pPr>
              <a:spcBef>
                <a:spcPts val="0"/>
              </a:spcBef>
              <a:spcAft>
                <a:spcPts val="500"/>
              </a:spcAft>
            </a:pPr>
            <a:r>
              <a:rPr sz="1300" b="1">
                <a:solidFill>
                  <a:srgbClr val="13233A"/>
                </a:solidFill>
                <a:latin typeface="Aptos"/>
              </a:rPr>
              <a:t>Primary KPI: 30-day readmission rate in eligible cohort.</a:t>
            </a:r>
          </a:p>
          <a:p>
            <a:pPr>
              <a:spcBef>
                <a:spcPts val="0"/>
              </a:spcBef>
              <a:spcAft>
                <a:spcPts val="200"/>
              </a:spcAft>
            </a:pPr>
            <a:r>
              <a:rPr sz="1100" b="0">
                <a:solidFill>
                  <a:srgbClr val="283444"/>
                </a:solidFill>
                <a:latin typeface="Aptos"/>
              </a:rPr>
              <a:t>Secondary KPIs: follow-up completion, medication reconciliation, ED visits, length of stay, patient safety, staff workload, cost per enrolled patient.</a:t>
            </a:r>
          </a:p>
          <a:p>
            <a:pPr>
              <a:spcBef>
                <a:spcPts val="0"/>
              </a:spcBef>
              <a:spcAft>
                <a:spcPts val="200"/>
              </a:spcAft>
            </a:pPr>
            <a:r>
              <a:rPr sz="1100" b="1">
                <a:solidFill>
                  <a:srgbClr val="647284"/>
                </a:solidFill>
                <a:latin typeface="Aptos"/>
              </a:rPr>
              <a:t>Scale only if outcomes improve and economics break even without safety harm.</a:t>
            </a:r>
          </a:p>
        </p:txBody>
      </p:sp>
      <p:sp>
        <p:nvSpPr>
          <p:cNvPr id="9" name="TextBox 8"/>
          <p:cNvSpPr txBox="1"/>
          <p:nvPr/>
        </p:nvSpPr>
        <p:spPr>
          <a:xfrm>
            <a:off x="713232" y="3794760"/>
            <a:ext cx="5029200" cy="292608"/>
          </a:xfrm>
          <a:prstGeom prst="rect">
            <a:avLst/>
          </a:prstGeom>
          <a:noFill/>
        </p:spPr>
        <p:txBody>
          <a:bodyPr wrap="square" lIns="36576" tIns="36576" rIns="36576" bIns="36576" anchor="t">
            <a:spAutoFit/>
          </a:bodyPr>
          <a:lstStyle/>
          <a:p>
            <a:pPr>
              <a:spcAft>
                <a:spcPts val="0"/>
              </a:spcAft>
            </a:pPr>
            <a:r>
              <a:rPr sz="1100" b="1">
                <a:solidFill>
                  <a:srgbClr val="1B8F85"/>
                </a:solidFill>
                <a:latin typeface="Aptos"/>
              </a:rPr>
              <a:t>VALIDATION PLAN</a:t>
            </a:r>
          </a:p>
        </p:txBody>
      </p:sp>
      <p:sp>
        <p:nvSpPr>
          <p:cNvPr id="10" name="Oval 9"/>
          <p:cNvSpPr/>
          <p:nvPr/>
        </p:nvSpPr>
        <p:spPr>
          <a:xfrm>
            <a:off x="749808" y="4133087"/>
            <a:ext cx="256032" cy="256032"/>
          </a:xfrm>
          <a:prstGeom prst="ellipse">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4165091"/>
            <a:ext cx="256032" cy="164592"/>
          </a:xfrm>
          <a:prstGeom prst="rect">
            <a:avLst/>
          </a:prstGeom>
          <a:noFill/>
        </p:spPr>
        <p:txBody>
          <a:bodyPr wrap="square" lIns="36576" tIns="36576" rIns="36576" bIns="36576" anchor="t">
            <a:spAutoFit/>
          </a:bodyPr>
          <a:lstStyle/>
          <a:p>
            <a:pPr algn="ctr">
              <a:spcAft>
                <a:spcPts val="0"/>
              </a:spcAft>
            </a:pPr>
            <a:r>
              <a:rPr sz="800" b="1">
                <a:solidFill>
                  <a:srgbClr val="FFFFFF"/>
                </a:solidFill>
                <a:latin typeface="Aptos"/>
              </a:rPr>
              <a:t>1</a:t>
            </a:r>
          </a:p>
        </p:txBody>
      </p:sp>
      <p:sp>
        <p:nvSpPr>
          <p:cNvPr id="12" name="TextBox 11"/>
          <p:cNvSpPr txBox="1"/>
          <p:nvPr/>
        </p:nvSpPr>
        <p:spPr>
          <a:xfrm>
            <a:off x="1097280" y="4133087"/>
            <a:ext cx="1170432" cy="219456"/>
          </a:xfrm>
          <a:prstGeom prst="rect">
            <a:avLst/>
          </a:prstGeom>
          <a:noFill/>
        </p:spPr>
        <p:txBody>
          <a:bodyPr wrap="square" lIns="36576" tIns="36576" rIns="36576" bIns="36576" anchor="t">
            <a:spAutoFit/>
          </a:bodyPr>
          <a:lstStyle/>
          <a:p>
            <a:pPr>
              <a:spcAft>
                <a:spcPts val="0"/>
              </a:spcAft>
            </a:pPr>
            <a:r>
              <a:rPr sz="1000" b="1">
                <a:solidFill>
                  <a:srgbClr val="283444"/>
                </a:solidFill>
                <a:latin typeface="Aptos"/>
              </a:rPr>
              <a:t>Data QA</a:t>
            </a:r>
          </a:p>
        </p:txBody>
      </p:sp>
      <p:sp>
        <p:nvSpPr>
          <p:cNvPr id="13" name="TextBox 12"/>
          <p:cNvSpPr txBox="1"/>
          <p:nvPr/>
        </p:nvSpPr>
        <p:spPr>
          <a:xfrm>
            <a:off x="2267712" y="4133087"/>
            <a:ext cx="8732520" cy="274320"/>
          </a:xfrm>
          <a:prstGeom prst="rect">
            <a:avLst/>
          </a:prstGeom>
          <a:noFill/>
        </p:spPr>
        <p:txBody>
          <a:bodyPr wrap="square" lIns="36576" tIns="36576" rIns="36576" bIns="36576" anchor="t">
            <a:spAutoFit/>
          </a:bodyPr>
          <a:lstStyle/>
          <a:p>
            <a:pPr>
              <a:spcAft>
                <a:spcPts val="0"/>
              </a:spcAft>
            </a:pPr>
            <a:r>
              <a:rPr sz="950" b="0">
                <a:solidFill>
                  <a:srgbClr val="647284"/>
                </a:solidFill>
                <a:latin typeface="Aptos"/>
              </a:rPr>
              <a:t>Confirm labels, duplicates, eligibility, and follow-up window.</a:t>
            </a:r>
          </a:p>
        </p:txBody>
      </p:sp>
      <p:sp>
        <p:nvSpPr>
          <p:cNvPr id="14" name="Oval 13"/>
          <p:cNvSpPr/>
          <p:nvPr/>
        </p:nvSpPr>
        <p:spPr>
          <a:xfrm>
            <a:off x="749808" y="4526279"/>
            <a:ext cx="256032" cy="256032"/>
          </a:xfrm>
          <a:prstGeom prst="ellipse">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4558283"/>
            <a:ext cx="256032" cy="164592"/>
          </a:xfrm>
          <a:prstGeom prst="rect">
            <a:avLst/>
          </a:prstGeom>
          <a:noFill/>
        </p:spPr>
        <p:txBody>
          <a:bodyPr wrap="square" lIns="36576" tIns="36576" rIns="36576" bIns="36576" anchor="t">
            <a:spAutoFit/>
          </a:bodyPr>
          <a:lstStyle/>
          <a:p>
            <a:pPr algn="ctr">
              <a:spcAft>
                <a:spcPts val="0"/>
              </a:spcAft>
            </a:pPr>
            <a:r>
              <a:rPr sz="800" b="1">
                <a:solidFill>
                  <a:srgbClr val="FFFFFF"/>
                </a:solidFill>
                <a:latin typeface="Aptos"/>
              </a:rPr>
              <a:t>2</a:t>
            </a:r>
          </a:p>
        </p:txBody>
      </p:sp>
      <p:sp>
        <p:nvSpPr>
          <p:cNvPr id="16" name="TextBox 15"/>
          <p:cNvSpPr txBox="1"/>
          <p:nvPr/>
        </p:nvSpPr>
        <p:spPr>
          <a:xfrm>
            <a:off x="1097280" y="4526279"/>
            <a:ext cx="1170432" cy="219456"/>
          </a:xfrm>
          <a:prstGeom prst="rect">
            <a:avLst/>
          </a:prstGeom>
          <a:noFill/>
        </p:spPr>
        <p:txBody>
          <a:bodyPr wrap="square" lIns="36576" tIns="36576" rIns="36576" bIns="36576" anchor="t">
            <a:spAutoFit/>
          </a:bodyPr>
          <a:lstStyle/>
          <a:p>
            <a:pPr>
              <a:spcAft>
                <a:spcPts val="0"/>
              </a:spcAft>
            </a:pPr>
            <a:r>
              <a:rPr sz="1000" b="1">
                <a:solidFill>
                  <a:srgbClr val="283444"/>
                </a:solidFill>
                <a:latin typeface="Aptos"/>
              </a:rPr>
              <a:t>Baseline</a:t>
            </a:r>
          </a:p>
        </p:txBody>
      </p:sp>
      <p:sp>
        <p:nvSpPr>
          <p:cNvPr id="17" name="TextBox 16"/>
          <p:cNvSpPr txBox="1"/>
          <p:nvPr/>
        </p:nvSpPr>
        <p:spPr>
          <a:xfrm>
            <a:off x="2267712" y="4526279"/>
            <a:ext cx="8732520" cy="274320"/>
          </a:xfrm>
          <a:prstGeom prst="rect">
            <a:avLst/>
          </a:prstGeom>
          <a:noFill/>
        </p:spPr>
        <p:txBody>
          <a:bodyPr wrap="square" lIns="36576" tIns="36576" rIns="36576" bIns="36576" anchor="t">
            <a:spAutoFit/>
          </a:bodyPr>
          <a:lstStyle/>
          <a:p>
            <a:pPr>
              <a:spcAft>
                <a:spcPts val="0"/>
              </a:spcAft>
            </a:pPr>
            <a:r>
              <a:rPr sz="950" b="0">
                <a:solidFill>
                  <a:srgbClr val="647284"/>
                </a:solidFill>
                <a:latin typeface="Aptos"/>
              </a:rPr>
              <a:t>Measure cohort rate over a defined recent period.</a:t>
            </a:r>
          </a:p>
        </p:txBody>
      </p:sp>
      <p:sp>
        <p:nvSpPr>
          <p:cNvPr id="18" name="Oval 17"/>
          <p:cNvSpPr/>
          <p:nvPr/>
        </p:nvSpPr>
        <p:spPr>
          <a:xfrm>
            <a:off x="749808" y="4919472"/>
            <a:ext cx="256032" cy="256032"/>
          </a:xfrm>
          <a:prstGeom prst="ellipse">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951476"/>
            <a:ext cx="256032" cy="164592"/>
          </a:xfrm>
          <a:prstGeom prst="rect">
            <a:avLst/>
          </a:prstGeom>
          <a:noFill/>
        </p:spPr>
        <p:txBody>
          <a:bodyPr wrap="square" lIns="36576" tIns="36576" rIns="36576" bIns="36576" anchor="t">
            <a:spAutoFit/>
          </a:bodyPr>
          <a:lstStyle/>
          <a:p>
            <a:pPr algn="ctr">
              <a:spcAft>
                <a:spcPts val="0"/>
              </a:spcAft>
            </a:pPr>
            <a:r>
              <a:rPr sz="800" b="1">
                <a:solidFill>
                  <a:srgbClr val="FFFFFF"/>
                </a:solidFill>
                <a:latin typeface="Aptos"/>
              </a:rPr>
              <a:t>3</a:t>
            </a:r>
          </a:p>
        </p:txBody>
      </p:sp>
      <p:sp>
        <p:nvSpPr>
          <p:cNvPr id="20" name="TextBox 19"/>
          <p:cNvSpPr txBox="1"/>
          <p:nvPr/>
        </p:nvSpPr>
        <p:spPr>
          <a:xfrm>
            <a:off x="1097280" y="4919472"/>
            <a:ext cx="1170432" cy="219456"/>
          </a:xfrm>
          <a:prstGeom prst="rect">
            <a:avLst/>
          </a:prstGeom>
          <a:noFill/>
        </p:spPr>
        <p:txBody>
          <a:bodyPr wrap="square" lIns="36576" tIns="36576" rIns="36576" bIns="36576" anchor="t">
            <a:spAutoFit/>
          </a:bodyPr>
          <a:lstStyle/>
          <a:p>
            <a:pPr>
              <a:spcAft>
                <a:spcPts val="0"/>
              </a:spcAft>
            </a:pPr>
            <a:r>
              <a:rPr sz="1000" b="1">
                <a:solidFill>
                  <a:srgbClr val="283444"/>
                </a:solidFill>
                <a:latin typeface="Aptos"/>
              </a:rPr>
              <a:t>Pilot design</a:t>
            </a:r>
          </a:p>
        </p:txBody>
      </p:sp>
      <p:sp>
        <p:nvSpPr>
          <p:cNvPr id="21" name="TextBox 20"/>
          <p:cNvSpPr txBox="1"/>
          <p:nvPr/>
        </p:nvSpPr>
        <p:spPr>
          <a:xfrm>
            <a:off x="2267712" y="4919472"/>
            <a:ext cx="8732520" cy="274320"/>
          </a:xfrm>
          <a:prstGeom prst="rect">
            <a:avLst/>
          </a:prstGeom>
          <a:noFill/>
        </p:spPr>
        <p:txBody>
          <a:bodyPr wrap="square" lIns="36576" tIns="36576" rIns="36576" bIns="36576" anchor="t">
            <a:spAutoFit/>
          </a:bodyPr>
          <a:lstStyle/>
          <a:p>
            <a:pPr>
              <a:spcAft>
                <a:spcPts val="0"/>
              </a:spcAft>
            </a:pPr>
            <a:r>
              <a:rPr sz="950" b="0">
                <a:solidFill>
                  <a:srgbClr val="647284"/>
                </a:solidFill>
                <a:latin typeface="Aptos"/>
              </a:rPr>
              <a:t>Use randomized or matched comparison; power the sample.</a:t>
            </a:r>
          </a:p>
        </p:txBody>
      </p:sp>
      <p:sp>
        <p:nvSpPr>
          <p:cNvPr id="22" name="Oval 21"/>
          <p:cNvSpPr/>
          <p:nvPr/>
        </p:nvSpPr>
        <p:spPr>
          <a:xfrm>
            <a:off x="749808" y="5312664"/>
            <a:ext cx="256032" cy="256032"/>
          </a:xfrm>
          <a:prstGeom prst="ellipse">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5344668"/>
            <a:ext cx="256032" cy="164592"/>
          </a:xfrm>
          <a:prstGeom prst="rect">
            <a:avLst/>
          </a:prstGeom>
          <a:noFill/>
        </p:spPr>
        <p:txBody>
          <a:bodyPr wrap="square" lIns="36576" tIns="36576" rIns="36576" bIns="36576" anchor="t">
            <a:spAutoFit/>
          </a:bodyPr>
          <a:lstStyle/>
          <a:p>
            <a:pPr algn="ctr">
              <a:spcAft>
                <a:spcPts val="0"/>
              </a:spcAft>
            </a:pPr>
            <a:r>
              <a:rPr sz="800" b="1">
                <a:solidFill>
                  <a:srgbClr val="FFFFFF"/>
                </a:solidFill>
                <a:latin typeface="Aptos"/>
              </a:rPr>
              <a:t>4</a:t>
            </a:r>
          </a:p>
        </p:txBody>
      </p:sp>
      <p:sp>
        <p:nvSpPr>
          <p:cNvPr id="24" name="TextBox 23"/>
          <p:cNvSpPr txBox="1"/>
          <p:nvPr/>
        </p:nvSpPr>
        <p:spPr>
          <a:xfrm>
            <a:off x="1097280" y="5312664"/>
            <a:ext cx="1170432" cy="219456"/>
          </a:xfrm>
          <a:prstGeom prst="rect">
            <a:avLst/>
          </a:prstGeom>
          <a:noFill/>
        </p:spPr>
        <p:txBody>
          <a:bodyPr wrap="square" lIns="36576" tIns="36576" rIns="36576" bIns="36576" anchor="t">
            <a:spAutoFit/>
          </a:bodyPr>
          <a:lstStyle/>
          <a:p>
            <a:pPr>
              <a:spcAft>
                <a:spcPts val="0"/>
              </a:spcAft>
            </a:pPr>
            <a:r>
              <a:rPr sz="1000" b="1">
                <a:solidFill>
                  <a:srgbClr val="283444"/>
                </a:solidFill>
                <a:latin typeface="Aptos"/>
              </a:rPr>
              <a:t>Evaluate</a:t>
            </a:r>
          </a:p>
        </p:txBody>
      </p:sp>
      <p:sp>
        <p:nvSpPr>
          <p:cNvPr id="25" name="TextBox 24"/>
          <p:cNvSpPr txBox="1"/>
          <p:nvPr/>
        </p:nvSpPr>
        <p:spPr>
          <a:xfrm>
            <a:off x="2267712" y="5312664"/>
            <a:ext cx="8732520" cy="274320"/>
          </a:xfrm>
          <a:prstGeom prst="rect">
            <a:avLst/>
          </a:prstGeom>
          <a:noFill/>
        </p:spPr>
        <p:txBody>
          <a:bodyPr wrap="square" lIns="36576" tIns="36576" rIns="36576" bIns="36576" anchor="t">
            <a:spAutoFit/>
          </a:bodyPr>
          <a:lstStyle/>
          <a:p>
            <a:pPr>
              <a:spcAft>
                <a:spcPts val="0"/>
              </a:spcAft>
            </a:pPr>
            <a:r>
              <a:rPr sz="950" b="0">
                <a:solidFill>
                  <a:srgbClr val="647284"/>
                </a:solidFill>
                <a:latin typeface="Aptos"/>
              </a:rPr>
              <a:t>Compare absolute risk difference, confidence interval, safety, and cost.</a:t>
            </a:r>
          </a:p>
        </p:txBody>
      </p:sp>
      <p:sp>
        <p:nvSpPr>
          <p:cNvPr id="26" name="Oval 25"/>
          <p:cNvSpPr/>
          <p:nvPr/>
        </p:nvSpPr>
        <p:spPr>
          <a:xfrm>
            <a:off x="749808" y="5705855"/>
            <a:ext cx="256032" cy="256032"/>
          </a:xfrm>
          <a:prstGeom prst="ellipse">
            <a:avLst/>
          </a:prstGeom>
          <a:solidFill>
            <a:srgbClr val="1B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5737859"/>
            <a:ext cx="256032" cy="164592"/>
          </a:xfrm>
          <a:prstGeom prst="rect">
            <a:avLst/>
          </a:prstGeom>
          <a:noFill/>
        </p:spPr>
        <p:txBody>
          <a:bodyPr wrap="square" lIns="36576" tIns="36576" rIns="36576" bIns="36576" anchor="t">
            <a:spAutoFit/>
          </a:bodyPr>
          <a:lstStyle/>
          <a:p>
            <a:pPr algn="ctr">
              <a:spcAft>
                <a:spcPts val="0"/>
              </a:spcAft>
            </a:pPr>
            <a:r>
              <a:rPr sz="800" b="1">
                <a:solidFill>
                  <a:srgbClr val="FFFFFF"/>
                </a:solidFill>
                <a:latin typeface="Aptos"/>
              </a:rPr>
              <a:t>5</a:t>
            </a:r>
          </a:p>
        </p:txBody>
      </p:sp>
      <p:sp>
        <p:nvSpPr>
          <p:cNvPr id="28" name="TextBox 27"/>
          <p:cNvSpPr txBox="1"/>
          <p:nvPr/>
        </p:nvSpPr>
        <p:spPr>
          <a:xfrm>
            <a:off x="1097280" y="5705855"/>
            <a:ext cx="1170432" cy="219456"/>
          </a:xfrm>
          <a:prstGeom prst="rect">
            <a:avLst/>
          </a:prstGeom>
          <a:noFill/>
        </p:spPr>
        <p:txBody>
          <a:bodyPr wrap="square" lIns="36576" tIns="36576" rIns="36576" bIns="36576" anchor="t">
            <a:spAutoFit/>
          </a:bodyPr>
          <a:lstStyle/>
          <a:p>
            <a:pPr>
              <a:spcAft>
                <a:spcPts val="0"/>
              </a:spcAft>
            </a:pPr>
            <a:r>
              <a:rPr sz="1000" b="1">
                <a:solidFill>
                  <a:srgbClr val="283444"/>
                </a:solidFill>
                <a:latin typeface="Aptos"/>
              </a:rPr>
              <a:t>Decision gate</a:t>
            </a:r>
          </a:p>
        </p:txBody>
      </p:sp>
      <p:sp>
        <p:nvSpPr>
          <p:cNvPr id="29" name="TextBox 28"/>
          <p:cNvSpPr txBox="1"/>
          <p:nvPr/>
        </p:nvSpPr>
        <p:spPr>
          <a:xfrm>
            <a:off x="2267712" y="5705855"/>
            <a:ext cx="8732520" cy="274320"/>
          </a:xfrm>
          <a:prstGeom prst="rect">
            <a:avLst/>
          </a:prstGeom>
          <a:noFill/>
        </p:spPr>
        <p:txBody>
          <a:bodyPr wrap="square" lIns="36576" tIns="36576" rIns="36576" bIns="36576" anchor="t">
            <a:spAutoFit/>
          </a:bodyPr>
          <a:lstStyle/>
          <a:p>
            <a:pPr>
              <a:spcAft>
                <a:spcPts val="0"/>
              </a:spcAft>
            </a:pPr>
            <a:r>
              <a:rPr sz="950" b="0">
                <a:solidFill>
                  <a:srgbClr val="647284"/>
                </a:solidFill>
                <a:latin typeface="Aptos"/>
              </a:rPr>
              <a:t>Scale / refine / stop using pre-agreed thresholds.</a:t>
            </a:r>
          </a:p>
        </p:txBody>
      </p:sp>
      <p:sp>
        <p:nvSpPr>
          <p:cNvPr id="30" name="Rounded Rectangle 29"/>
          <p:cNvSpPr/>
          <p:nvPr/>
        </p:nvSpPr>
        <p:spPr>
          <a:xfrm>
            <a:off x="621792" y="6144768"/>
            <a:ext cx="10652760" cy="320040"/>
          </a:xfrm>
          <a:prstGeom prst="roundRect">
            <a:avLst/>
          </a:prstGeom>
          <a:solidFill>
            <a:srgbClr val="FCF4E0"/>
          </a:solidFill>
          <a:ln w="10160">
            <a:solidFill>
              <a:srgbClr val="FCF4E0"/>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Bef>
                <a:spcPts val="0"/>
              </a:spcBef>
              <a:spcAft>
                <a:spcPts val="200"/>
              </a:spcAft>
            </a:pPr>
            <a:r>
              <a:rPr sz="900" b="1">
                <a:solidFill>
                  <a:srgbClr val="C24B48"/>
                </a:solidFill>
                <a:latin typeface="Aptos"/>
              </a:rPr>
              <a:t>OPEN UNKNOWNS: avoidable cost/readmission • intervention effect • cohort eligibility • data recency • capacity • clinical governance</a:t>
            </a:r>
          </a:p>
        </p:txBody>
      </p:sp>
      <p:sp>
        <p:nvSpPr>
          <p:cNvPr id="32" name="TextBox 31"/>
          <p:cNvSpPr txBox="1"/>
          <p:nvPr/>
        </p:nvSpPr>
        <p:spPr>
          <a:xfrm>
            <a:off x="11064240" y="6537960"/>
            <a:ext cx="548640" cy="182880"/>
          </a:xfrm>
          <a:prstGeom prst="rect">
            <a:avLst/>
          </a:prstGeom>
          <a:noFill/>
        </p:spPr>
        <p:txBody>
          <a:bodyPr wrap="square" lIns="36576" tIns="36576" rIns="36576" bIns="36576" anchor="t">
            <a:spAutoFit/>
          </a:bodyPr>
          <a:lstStyle/>
          <a:p>
            <a:pPr algn="r">
              <a:spcAft>
                <a:spcPts val="0"/>
              </a:spcAft>
            </a:pPr>
            <a:r>
              <a:rPr sz="900" b="1">
                <a:solidFill>
                  <a:srgbClr val="647284"/>
                </a:solidFill>
                <a:latin typeface="Aptos"/>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145</TotalTime>
  <Words>1034</Words>
  <Application>Microsoft Office PowerPoint</Application>
  <PresentationFormat>Widescreen</PresentationFormat>
  <Paragraphs>137</Paragraphs>
  <Slides>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0" baseType="lpstr">
      <vt:lpstr>Aptos</vt:lpstr>
      <vt:lpstr>Arial</vt:lpstr>
      <vt:lpstr>Calibri</vt:lpstr>
      <vt:lpstr>Office Theme</vt:lpstr>
      <vt:lpstr>Microsoft Excel Worksheet</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Readmission: FDE 5-Slide Decision Brief</dc:title>
  <dc:subject>Frame, baseline, concentration, value sizing, claim ledger, recommendation and validation</dc:subject>
  <dc:creator>OpenAI</dc:creator>
  <cp:keywords/>
  <dc:description>generated using python-pptx</dc:description>
  <cp:lastModifiedBy>Admin</cp:lastModifiedBy>
  <cp:revision>11</cp:revision>
  <dcterms:created xsi:type="dcterms:W3CDTF">2013-01-27T09:14:16Z</dcterms:created>
  <dcterms:modified xsi:type="dcterms:W3CDTF">2026-10-09T10:36:07Z</dcterms:modified>
  <cp:category/>
</cp:coreProperties>
</file>